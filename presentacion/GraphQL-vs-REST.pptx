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4" r:id="rId15"/>
    <p:sldId id="257" r:id="rId3"/>
    <p:sldId id="258" r:id="rId4"/>
    <p:sldId id="259" r:id="rId5"/>
    <p:sldId id="260" r:id="rId6"/>
    <p:sldId id="261" r:id="rId7"/>
    <p:sldId id="262" r:id="rId8"/>
    <p:sldId id="263" r:id="rId9"/>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  <Relationship Id="rId15" Type="http://schemas.openxmlformats.org/officeDocument/2006/relationships/slide" Target="slides/slide9.xml"/>
  <Relationship Id="rId16" Type="http://schemas.openxmlformats.org/officeDocument/2006/relationships/slide" Target="slides/slide1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207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Objetivo: mostrar qué es GraphQL, para qué sirve y cómo se compara con REST, con una demo en vivo sobre turnos médicos. Unos 10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clave: un lenguaje de consulta para APIs donde el cliente pide exactamente lo que necesita. Tres ideas: el schema es el contrato tipado; hay un solo endpoint (POST /graphql con un JSON, es HTTP común, no hay magia); y el cliente decide qué campos y relaciones trae.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schema como contrato: Turno tiene paciente y profesional como tipos, no como ids. A la derecha, una consulta y su respuesta: la respuesta tiene la misma forma que la consulta. Si no se pide un campo, no viaja.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línea por función. Introspección: el servidor describe su schema (así funciona GraphiQL). Variables: consulta fija y valores aparte, tipados. Alias: el mismo campo dos veces con distintos argumentos. Fragments: un grupo de campos reutilizable. Errores tipados: extensions.code. Suscripciones: el servidor avisa por WebSocket.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de la demo. 1: GraphiQL, mostrar que el schema se autodescribe. 2: Postman, consultas con campos, anidado, variables, alias y fragments. 3: crear un turno y provocar el error CONFLICT. 4: suscripción abierta en GraphiQL mientras se crea un turno. Ensayar la suscripción antes de la clase.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comprar 10 productos con un viaje por producto o con un solo viaje. En SQL: un SELECT por fila contra WHERE id IN. Cada campo tiene su resolver, así que pedir la lista de turnos con su paciente ejecuta Turno.paciente una vez por turno. DataLoader junta los ids y hace un acceso por tabla. Misma consulta y mismo resultado: 21 accesos contra 3 con 10 turnos. Aclarar que REST también puede tener N+1, pero en la 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breve, solo lo importante. Turno + paciente + profesional: 1 llamada contra 3. Datos de más: REST devuelve el recurso completo. Errores: GraphQL devuelve 200 con errors y REST usa códigos HTTP. Caché: REST usa la caché HTTP por URL; en GraphQL se puede con consultas persistidas pero da más trabajo. Decir la objeción antes de que la hagan: GraphQL mueve el trabajo al servidor, no lo elimina.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conviene con varios clientes que piden datos distintos, datos muy relacionados o datos en vivo. REST conviene con archivos, un solo cliente con datos fijos, lectura masiva con caché y webhooks. Cierre: GraphQL no reemplaza a REST, resuelve un problema puntual. Abrir a preguntas.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EF6"/>
        </a:solidFill>
        <a:effectLst/>
      </p:bgPr>
    </p:bg>
    <p:spTree>
      <p:nvGrpSpPr>
        <p:cNvPr id="1" name=""/>
        <p:cNvGrpSpPr/>
        <p:nvPr/>
      </p:nvGrpSpPr>
      <p:grpSpPr>
        <a:xfrm>
          <a:off x="0" y="0"/>
          <a:ext cx="0" cy="0"/>
          <a:chOff x="0" y="0"/>
          <a:chExt cx="0" cy="0"/>
        </a:xfrm>
      </p:grpSpPr>
      <p:sp>
        <p:nvSpPr>
          <p:cNvPr id="3" name="Text 0"/>
          <p:cNvSpPr txBox="1"/>
          <p:nvPr/>
        </p:nvSpPr>
        <p:spPr>
          <a:xfrm>
            <a:off x="548640" y="1234440"/>
            <a:ext cx="4937760" cy="914400"/>
          </a:xfrm>
          <a:prstGeom prst="rect">
            <a:avLst/>
          </a:prstGeom>
          <a:noFill/>
          <a:ln/>
        </p:spPr>
        <p:txBody>
          <a:bodyPr wrap="square" lIns="0" tIns="0" rIns="0" bIns="0" rtlCol="0" anchor="ctr"/>
          <a:lstStyle/>
          <a:p>
            <a:pPr marL="0" indent="0">
              <a:buNone/>
            </a:pPr>
            <a:r>
              <a:rPr lang="en-US" sz="5400" b="1" dirty="0">
                <a:solidFill>
                  <a:srgbClr val="E10098"/>
                </a:solidFill>
                <a:latin typeface="Cambria" pitchFamily="34" charset="0"/>
                <a:ea typeface="Cambria" pitchFamily="34" charset="-122"/>
                <a:cs typeface="Cambria" pitchFamily="34" charset="-120"/>
              </a:rPr>
              <a:t>GraphQL</a:t>
            </a:r>
            <a:endParaRPr lang="en-US" sz="5400" dirty="0"/>
          </a:p>
        </p:txBody>
      </p:sp>
      <p:sp>
        <p:nvSpPr>
          <p:cNvPr id="4" name="Text 1"/>
          <p:cNvSpPr txBox="1"/>
          <p:nvPr/>
        </p:nvSpPr>
        <p:spPr>
          <a:xfrm>
            <a:off x="548640" y="2194560"/>
            <a:ext cx="4937760" cy="548640"/>
          </a:xfrm>
          <a:prstGeom prst="rect">
            <a:avLst/>
          </a:prstGeom>
          <a:noFill/>
          <a:ln/>
        </p:spPr>
        <p:txBody>
          <a:bodyPr wrap="square" lIns="0" tIns="0" rIns="0" bIns="0" rtlCol="0" anchor="ctr"/>
          <a:lstStyle/>
          <a:p>
            <a:pPr marL="0" indent="0">
              <a:buNone/>
            </a:pPr>
            <a:r>
              <a:rPr lang="en-US" sz="2600" dirty="0">
                <a:solidFill>
                  <a:srgbClr val="1B1F3B"/>
                </a:solidFill>
                <a:latin typeface="Cambria" pitchFamily="34" charset="0"/>
                <a:ea typeface="Cambria" pitchFamily="34" charset="-122"/>
                <a:cs typeface="Cambria" pitchFamily="34" charset="-120"/>
              </a:rPr>
              <a:t>y su comparación con REST</a:t>
            </a:r>
            <a:endParaRPr lang="en-US" sz="2600" dirty="0"/>
          </a:p>
        </p:txBody>
      </p:sp>
      <p:sp>
        <p:nvSpPr>
          <p:cNvPr id="5" name="Text 2"/>
          <p:cNvSpPr txBox="1"/>
          <p:nvPr/>
        </p:nvSpPr>
        <p:spPr>
          <a:xfrm>
            <a:off x="548640" y="2926080"/>
            <a:ext cx="4937760" cy="365760"/>
          </a:xfrm>
          <a:prstGeom prst="rect">
            <a:avLst/>
          </a:prstGeom>
          <a:noFill/>
          <a:ln/>
        </p:spPr>
        <p:txBody>
          <a:bodyPr wrap="square" lIns="0" tIns="0" rIns="0" bIns="0" rtlCol="0" anchor="ctr"/>
          <a:lstStyle/>
          <a:p>
            <a:pPr marL="0" indent="0">
              <a:buNone/>
            </a:pPr>
            <a:r>
              <a:rPr lang="en-US" sz="1600" dirty="0">
                <a:solidFill>
                  <a:srgbClr val="5B6178"/>
                </a:solidFill>
                <a:latin typeface="Calibri" pitchFamily="34" charset="0"/>
                <a:ea typeface="Calibri" pitchFamily="34" charset="-122"/>
                <a:cs typeface="Calibri" pitchFamily="34" charset="-120"/>
              </a:rPr>
              <a:t>Prueba de concepto: turnos médicos</a:t>
            </a:r>
            <a:endParaRPr lang="en-US" sz="1600" dirty="0"/>
          </a:p>
        </p:txBody>
      </p:sp>
      <p:sp>
        <p:nvSpPr>
          <p:cNvPr id="6" name="Shape 3"/>
          <p:cNvSpPr/>
          <p:nvPr/>
        </p:nvSpPr>
        <p:spPr>
          <a:xfrm>
            <a:off x="548640" y="3520440"/>
            <a:ext cx="1600200" cy="731520"/>
          </a:xfrm>
          <a:prstGeom prst="roundRect">
            <a:avLst>
              <a:gd name="adj" fmla="val 12500"/>
            </a:avLst>
          </a:prstGeom>
          <a:solidFill>
            <a:srgbClr val="FFFFFF"/>
          </a:solidFill>
          <a:ln w="9525">
            <a:solidFill>
              <a:srgbClr val="E3D6E3"/>
            </a:solidFill>
            <a:prstDash val="solid"/>
          </a:ln>
        </p:spPr>
        <p:txBody>
          <a:bodyPr/>
          <a:lstStyle/>
          <a:p>
            <a:endParaRPr lang="es-AR"/>
          </a:p>
        </p:txBody>
      </p:sp>
      <p:sp>
        <p:nvSpPr>
          <p:cNvPr id="7" name="Text 4"/>
          <p:cNvSpPr txBox="1"/>
          <p:nvPr/>
        </p:nvSpPr>
        <p:spPr>
          <a:xfrm>
            <a:off x="685800" y="3566160"/>
            <a:ext cx="1371600" cy="640080"/>
          </a:xfrm>
          <a:prstGeom prst="rect">
            <a:avLst/>
          </a:prstGeom>
          <a:noFill/>
          <a:ln/>
        </p:spPr>
        <p:txBody>
          <a:bodyPr wrap="square" lIns="0" tIns="0" rIns="0" bIns="0" rtlCol="0" anchor="ctr"/>
          <a:lstStyle/>
          <a:p>
            <a:pPr marL="0" indent="0">
              <a:buNone/>
            </a:pPr>
            <a:r>
              <a:rPr lang="en-US" sz="2800" b="1" dirty="0">
                <a:solidFill>
                  <a:srgbClr val="E10098"/>
                </a:solidFill>
                <a:latin typeface="Cambria" pitchFamily="34" charset="0"/>
                <a:ea typeface="Cambria" pitchFamily="34" charset="-122"/>
                <a:cs typeface="Cambria" pitchFamily="34" charset="-120"/>
              </a:rPr>
              <a:t>10 </a:t>
            </a:r>
            <a:r>
              <a:rPr lang="en-US" sz="1300" dirty="0">
                <a:solidFill>
                  <a:srgbClr val="1B1F3B"/>
                </a:solidFill>
                <a:latin typeface="Calibri" pitchFamily="34" charset="0"/>
                <a:ea typeface="Calibri" pitchFamily="34" charset="-122"/>
                <a:cs typeface="Calibri" pitchFamily="34" charset="-120"/>
              </a:rPr>
              <a:t>turnos</a:t>
            </a:r>
            <a:endParaRPr lang="en-US" sz="2800" dirty="0"/>
          </a:p>
        </p:txBody>
      </p:sp>
      <p:sp>
        <p:nvSpPr>
          <p:cNvPr id="8" name="Shape 5"/>
          <p:cNvSpPr/>
          <p:nvPr/>
        </p:nvSpPr>
        <p:spPr>
          <a:xfrm>
            <a:off x="2258568" y="3520440"/>
            <a:ext cx="1600200" cy="731520"/>
          </a:xfrm>
          <a:prstGeom prst="roundRect">
            <a:avLst>
              <a:gd name="adj" fmla="val 12500"/>
            </a:avLst>
          </a:prstGeom>
          <a:solidFill>
            <a:srgbClr val="FFFFFF"/>
          </a:solidFill>
          <a:ln w="9525">
            <a:solidFill>
              <a:srgbClr val="E3D6E3"/>
            </a:solidFill>
            <a:prstDash val="solid"/>
          </a:ln>
        </p:spPr>
        <p:txBody>
          <a:bodyPr/>
          <a:lstStyle/>
          <a:p>
            <a:endParaRPr lang="es-AR"/>
          </a:p>
        </p:txBody>
      </p:sp>
      <p:sp>
        <p:nvSpPr>
          <p:cNvPr id="9" name="Text 6"/>
          <p:cNvSpPr txBox="1"/>
          <p:nvPr/>
        </p:nvSpPr>
        <p:spPr>
          <a:xfrm>
            <a:off x="2395728" y="3566160"/>
            <a:ext cx="1371600" cy="640080"/>
          </a:xfrm>
          <a:prstGeom prst="rect">
            <a:avLst/>
          </a:prstGeom>
          <a:noFill/>
          <a:ln/>
        </p:spPr>
        <p:txBody>
          <a:bodyPr wrap="square" lIns="0" tIns="0" rIns="0" bIns="0" rtlCol="0" anchor="ctr"/>
          <a:lstStyle/>
          <a:p>
            <a:pPr marL="0" indent="0">
              <a:buNone/>
            </a:pPr>
            <a:r>
              <a:rPr lang="en-US" sz="2800" b="1" dirty="0">
                <a:solidFill>
                  <a:srgbClr val="E10098"/>
                </a:solidFill>
                <a:latin typeface="Cambria" pitchFamily="34" charset="0"/>
                <a:ea typeface="Cambria" pitchFamily="34" charset="-122"/>
                <a:cs typeface="Cambria" pitchFamily="34" charset="-120"/>
              </a:rPr>
              <a:t>6 </a:t>
            </a:r>
            <a:r>
              <a:rPr lang="en-US" sz="1300" dirty="0">
                <a:solidFill>
                  <a:srgbClr val="1B1F3B"/>
                </a:solidFill>
                <a:latin typeface="Calibri" pitchFamily="34" charset="0"/>
                <a:ea typeface="Calibri" pitchFamily="34" charset="-122"/>
                <a:cs typeface="Calibri" pitchFamily="34" charset="-120"/>
              </a:rPr>
              <a:t>pacientes</a:t>
            </a:r>
            <a:endParaRPr lang="en-US" sz="2800" dirty="0"/>
          </a:p>
        </p:txBody>
      </p:sp>
      <p:sp>
        <p:nvSpPr>
          <p:cNvPr id="10" name="Shape 7"/>
          <p:cNvSpPr/>
          <p:nvPr/>
        </p:nvSpPr>
        <p:spPr>
          <a:xfrm>
            <a:off x="3968496" y="3520440"/>
            <a:ext cx="1600200" cy="731520"/>
          </a:xfrm>
          <a:prstGeom prst="roundRect">
            <a:avLst>
              <a:gd name="adj" fmla="val 12500"/>
            </a:avLst>
          </a:prstGeom>
          <a:solidFill>
            <a:srgbClr val="FFFFFF"/>
          </a:solidFill>
          <a:ln w="9525">
            <a:solidFill>
              <a:srgbClr val="E3D6E3"/>
            </a:solidFill>
            <a:prstDash val="solid"/>
          </a:ln>
        </p:spPr>
        <p:txBody>
          <a:bodyPr/>
          <a:lstStyle/>
          <a:p>
            <a:endParaRPr lang="es-AR"/>
          </a:p>
        </p:txBody>
      </p:sp>
      <p:sp>
        <p:nvSpPr>
          <p:cNvPr id="11" name="Text 8"/>
          <p:cNvSpPr txBox="1"/>
          <p:nvPr/>
        </p:nvSpPr>
        <p:spPr>
          <a:xfrm>
            <a:off x="4105656" y="3566160"/>
            <a:ext cx="1371600" cy="640080"/>
          </a:xfrm>
          <a:prstGeom prst="rect">
            <a:avLst/>
          </a:prstGeom>
          <a:noFill/>
          <a:ln/>
        </p:spPr>
        <p:txBody>
          <a:bodyPr wrap="square" lIns="0" tIns="0" rIns="0" bIns="0" rtlCol="0" anchor="ctr"/>
          <a:lstStyle/>
          <a:p>
            <a:pPr marL="0" indent="0">
              <a:buNone/>
            </a:pPr>
            <a:r>
              <a:rPr lang="en-US" sz="2800" b="1" dirty="0">
                <a:solidFill>
                  <a:srgbClr val="E10098"/>
                </a:solidFill>
                <a:latin typeface="Cambria" pitchFamily="34" charset="0"/>
                <a:ea typeface="Cambria" pitchFamily="34" charset="-122"/>
                <a:cs typeface="Cambria" pitchFamily="34" charset="-120"/>
              </a:rPr>
              <a:t>5 </a:t>
            </a:r>
            <a:r>
              <a:rPr lang="en-US" sz="1300" dirty="0">
                <a:solidFill>
                  <a:srgbClr val="1B1F3B"/>
                </a:solidFill>
                <a:latin typeface="Calibri" pitchFamily="34" charset="0"/>
                <a:ea typeface="Calibri" pitchFamily="34" charset="-122"/>
                <a:cs typeface="Calibri" pitchFamily="34" charset="-120"/>
              </a:rPr>
              <a:t>profesionales</a:t>
            </a:r>
            <a:endParaRPr lang="en-US" sz="2800" dirty="0"/>
          </a:p>
        </p:txBody>
      </p:sp>
      <p:sp>
        <p:nvSpPr>
          <p:cNvPr id="12" name="Text 9"/>
          <p:cNvSpPr txBox="1"/>
          <p:nvPr/>
        </p:nvSpPr>
        <p:spPr>
          <a:xfrm>
            <a:off x="548640" y="4315968"/>
            <a:ext cx="4937760" cy="228600"/>
          </a:xfrm>
          <a:prstGeom prst="rect">
            <a:avLst/>
          </a:prstGeom>
          <a:noFill/>
          <a:ln/>
        </p:spPr>
        <p:txBody>
          <a:bodyPr wrap="square" lIns="0" tIns="0" rIns="0" bIns="0" rtlCol="0" anchor="ctr"/>
          <a:lstStyle/>
          <a:p>
            <a:pPr marL="0" indent="0">
              <a:buNone/>
            </a:pPr>
            <a:r>
              <a:rPr lang="en-US" sz="1100" dirty="0">
                <a:solidFill>
                  <a:srgbClr val="5B6178"/>
                </a:solidFill>
                <a:latin typeface="Calibri" pitchFamily="34" charset="0"/>
                <a:ea typeface="Calibri" pitchFamily="34" charset="-122"/>
                <a:cs typeface="Calibri" pitchFamily="34" charset="-120"/>
              </a:rPr>
              <a:t>Datos de ejemplo de la demo, guardados en memoria</a:t>
            </a:r>
            <a:endParaRPr lang="en-US" sz="1100" dirty="0"/>
          </a:p>
        </p:txBody>
      </p:sp>
      <p:sp>
        <p:nvSpPr>
          <p:cNvPr id="13" name="Text 10"/>
          <p:cNvSpPr txBox="1"/>
          <p:nvPr/>
        </p:nvSpPr>
        <p:spPr>
          <a:xfrm>
            <a:off x="548640" y="4663440"/>
            <a:ext cx="4937760" cy="274320"/>
          </a:xfrm>
          <a:prstGeom prst="rect">
            <a:avLst/>
          </a:prstGeom>
          <a:noFill/>
          <a:ln/>
        </p:spPr>
        <p:txBody>
          <a:bodyPr wrap="square" lIns="0" tIns="0" rIns="0" bIns="0" rtlCol="0" anchor="ctr"/>
          <a:lstStyle/>
          <a:p>
            <a:pPr marL="0" indent="0">
              <a:buNone/>
            </a:pPr>
            <a:r>
              <a:rPr lang="en-US" sz="1200" dirty="0">
                <a:solidFill>
                  <a:srgbClr val="5B6178"/>
                </a:solidFill>
                <a:latin typeface="Calibri" pitchFamily="34" charset="0"/>
                <a:ea typeface="Calibri" pitchFamily="34" charset="-122"/>
                <a:cs typeface="Calibri" pitchFamily="34" charset="-120"/>
              </a:rPr>
              <a:t>Gamba y Milanesi · 2026</a:t>
            </a:r>
            <a:endParaRPr lang="en-US" sz="1200" dirty="0"/>
          </a:p>
        </p:txBody>
      </p:sp>
      <p:sp>
        <p:nvSpPr>
          <p:cNvPr id="14" name="Shape 11"/>
          <p:cNvSpPr/>
          <p:nvPr/>
        </p:nvSpPr>
        <p:spPr>
          <a:xfrm>
            <a:off x="6583680" y="1188720"/>
            <a:ext cx="1463040" cy="548640"/>
          </a:xfrm>
          <a:prstGeom prst="line">
            <a:avLst/>
          </a:prstGeom>
          <a:noFill/>
          <a:ln w="19050">
            <a:solidFill>
              <a:srgbClr val="E10098"/>
            </a:solidFill>
            <a:prstDash val="solid"/>
          </a:ln>
        </p:spPr>
        <p:txBody>
          <a:bodyPr/>
          <a:lstStyle/>
          <a:p>
            <a:endParaRPr lang="es-AR"/>
          </a:p>
        </p:txBody>
      </p:sp>
      <p:sp>
        <p:nvSpPr>
          <p:cNvPr id="15" name="Shape 12"/>
          <p:cNvSpPr/>
          <p:nvPr/>
        </p:nvSpPr>
        <p:spPr>
          <a:xfrm>
            <a:off x="6583680" y="1188720"/>
            <a:ext cx="365760" cy="1463040"/>
          </a:xfrm>
          <a:prstGeom prst="line">
            <a:avLst/>
          </a:prstGeom>
          <a:noFill/>
          <a:ln w="19050">
            <a:solidFill>
              <a:srgbClr val="E10098"/>
            </a:solidFill>
            <a:prstDash val="solid"/>
          </a:ln>
        </p:spPr>
        <p:txBody>
          <a:bodyPr/>
          <a:lstStyle/>
          <a:p>
            <a:endParaRPr lang="es-AR"/>
          </a:p>
        </p:txBody>
      </p:sp>
      <p:sp>
        <p:nvSpPr>
          <p:cNvPr id="16" name="Shape 13"/>
          <p:cNvSpPr/>
          <p:nvPr/>
        </p:nvSpPr>
        <p:spPr>
          <a:xfrm flipV="1">
            <a:off x="6949440" y="1737360"/>
            <a:ext cx="1097280" cy="914400"/>
          </a:xfrm>
          <a:prstGeom prst="line">
            <a:avLst/>
          </a:prstGeom>
          <a:noFill/>
          <a:ln w="19050">
            <a:solidFill>
              <a:srgbClr val="E10098"/>
            </a:solidFill>
            <a:prstDash val="solid"/>
          </a:ln>
        </p:spPr>
        <p:txBody>
          <a:bodyPr/>
          <a:lstStyle/>
          <a:p>
            <a:endParaRPr lang="es-AR"/>
          </a:p>
        </p:txBody>
      </p:sp>
      <p:sp>
        <p:nvSpPr>
          <p:cNvPr id="17" name="Shape 14"/>
          <p:cNvSpPr/>
          <p:nvPr/>
        </p:nvSpPr>
        <p:spPr>
          <a:xfrm>
            <a:off x="8046720" y="1737360"/>
            <a:ext cx="182880" cy="1554480"/>
          </a:xfrm>
          <a:prstGeom prst="line">
            <a:avLst/>
          </a:prstGeom>
          <a:noFill/>
          <a:ln w="19050">
            <a:solidFill>
              <a:srgbClr val="E10098"/>
            </a:solidFill>
            <a:prstDash val="solid"/>
          </a:ln>
        </p:spPr>
        <p:txBody>
          <a:bodyPr/>
          <a:lstStyle/>
          <a:p>
            <a:endParaRPr lang="es-AR"/>
          </a:p>
        </p:txBody>
      </p:sp>
      <p:sp>
        <p:nvSpPr>
          <p:cNvPr id="18" name="Shape 15"/>
          <p:cNvSpPr/>
          <p:nvPr/>
        </p:nvSpPr>
        <p:spPr>
          <a:xfrm flipV="1">
            <a:off x="6309360" y="2651760"/>
            <a:ext cx="640080" cy="1280160"/>
          </a:xfrm>
          <a:prstGeom prst="line">
            <a:avLst/>
          </a:prstGeom>
          <a:noFill/>
          <a:ln w="19050">
            <a:solidFill>
              <a:srgbClr val="E10098"/>
            </a:solidFill>
            <a:prstDash val="solid"/>
          </a:ln>
        </p:spPr>
        <p:txBody>
          <a:bodyPr/>
          <a:lstStyle/>
          <a:p>
            <a:endParaRPr lang="es-AR"/>
          </a:p>
        </p:txBody>
      </p:sp>
      <p:sp>
        <p:nvSpPr>
          <p:cNvPr id="19" name="Shape 16"/>
          <p:cNvSpPr/>
          <p:nvPr/>
        </p:nvSpPr>
        <p:spPr>
          <a:xfrm>
            <a:off x="6949440" y="2651760"/>
            <a:ext cx="548640" cy="1463040"/>
          </a:xfrm>
          <a:prstGeom prst="line">
            <a:avLst/>
          </a:prstGeom>
          <a:noFill/>
          <a:ln w="19050">
            <a:solidFill>
              <a:srgbClr val="E10098"/>
            </a:solidFill>
            <a:prstDash val="solid"/>
          </a:ln>
        </p:spPr>
        <p:txBody>
          <a:bodyPr/>
          <a:lstStyle/>
          <a:p>
            <a:endParaRPr lang="es-AR"/>
          </a:p>
        </p:txBody>
      </p:sp>
      <p:sp>
        <p:nvSpPr>
          <p:cNvPr id="20" name="Shape 17"/>
          <p:cNvSpPr/>
          <p:nvPr/>
        </p:nvSpPr>
        <p:spPr>
          <a:xfrm flipV="1">
            <a:off x="7498080" y="3291840"/>
            <a:ext cx="731520" cy="822960"/>
          </a:xfrm>
          <a:prstGeom prst="line">
            <a:avLst/>
          </a:prstGeom>
          <a:noFill/>
          <a:ln w="19050">
            <a:solidFill>
              <a:srgbClr val="E10098"/>
            </a:solidFill>
            <a:prstDash val="solid"/>
          </a:ln>
        </p:spPr>
        <p:txBody>
          <a:bodyPr/>
          <a:lstStyle/>
          <a:p>
            <a:endParaRPr lang="es-AR"/>
          </a:p>
        </p:txBody>
      </p:sp>
      <p:sp>
        <p:nvSpPr>
          <p:cNvPr id="21" name="Shape 18"/>
          <p:cNvSpPr/>
          <p:nvPr/>
        </p:nvSpPr>
        <p:spPr>
          <a:xfrm>
            <a:off x="6382512" y="987552"/>
            <a:ext cx="402336" cy="402336"/>
          </a:xfrm>
          <a:prstGeom prst="ellipse">
            <a:avLst/>
          </a:prstGeom>
          <a:solidFill>
            <a:srgbClr val="E10098"/>
          </a:solidFill>
          <a:ln w="25400">
            <a:solidFill>
              <a:srgbClr val="E10098"/>
            </a:solidFill>
            <a:prstDash val="solid"/>
          </a:ln>
        </p:spPr>
        <p:txBody>
          <a:bodyPr/>
          <a:lstStyle/>
          <a:p>
            <a:endParaRPr lang="es-AR"/>
          </a:p>
        </p:txBody>
      </p:sp>
      <p:sp>
        <p:nvSpPr>
          <p:cNvPr id="22" name="Shape 19"/>
          <p:cNvSpPr/>
          <p:nvPr/>
        </p:nvSpPr>
        <p:spPr>
          <a:xfrm>
            <a:off x="7845552" y="1536192"/>
            <a:ext cx="402336" cy="402336"/>
          </a:xfrm>
          <a:prstGeom prst="ellipse">
            <a:avLst/>
          </a:prstGeom>
          <a:solidFill>
            <a:srgbClr val="FFFFFF"/>
          </a:solidFill>
          <a:ln w="25400">
            <a:solidFill>
              <a:srgbClr val="E10098"/>
            </a:solidFill>
            <a:prstDash val="solid"/>
          </a:ln>
        </p:spPr>
        <p:txBody>
          <a:bodyPr/>
          <a:lstStyle/>
          <a:p>
            <a:endParaRPr lang="es-AR"/>
          </a:p>
        </p:txBody>
      </p:sp>
      <p:sp>
        <p:nvSpPr>
          <p:cNvPr id="23" name="Shape 20"/>
          <p:cNvSpPr/>
          <p:nvPr/>
        </p:nvSpPr>
        <p:spPr>
          <a:xfrm>
            <a:off x="6748272" y="2450592"/>
            <a:ext cx="402336" cy="402336"/>
          </a:xfrm>
          <a:prstGeom prst="ellipse">
            <a:avLst/>
          </a:prstGeom>
          <a:solidFill>
            <a:srgbClr val="E10098"/>
          </a:solidFill>
          <a:ln w="25400">
            <a:solidFill>
              <a:srgbClr val="E10098"/>
            </a:solidFill>
            <a:prstDash val="solid"/>
          </a:ln>
        </p:spPr>
        <p:txBody>
          <a:bodyPr/>
          <a:lstStyle/>
          <a:p>
            <a:endParaRPr lang="es-AR"/>
          </a:p>
        </p:txBody>
      </p:sp>
      <p:sp>
        <p:nvSpPr>
          <p:cNvPr id="24" name="Shape 21"/>
          <p:cNvSpPr/>
          <p:nvPr/>
        </p:nvSpPr>
        <p:spPr>
          <a:xfrm>
            <a:off x="8028432" y="3090672"/>
            <a:ext cx="402336" cy="402336"/>
          </a:xfrm>
          <a:prstGeom prst="ellipse">
            <a:avLst/>
          </a:prstGeom>
          <a:solidFill>
            <a:srgbClr val="FFFFFF"/>
          </a:solidFill>
          <a:ln w="25400">
            <a:solidFill>
              <a:srgbClr val="E10098"/>
            </a:solidFill>
            <a:prstDash val="solid"/>
          </a:ln>
        </p:spPr>
        <p:txBody>
          <a:bodyPr/>
          <a:lstStyle/>
          <a:p>
            <a:endParaRPr lang="es-AR"/>
          </a:p>
        </p:txBody>
      </p:sp>
      <p:sp>
        <p:nvSpPr>
          <p:cNvPr id="25" name="Shape 22"/>
          <p:cNvSpPr/>
          <p:nvPr/>
        </p:nvSpPr>
        <p:spPr>
          <a:xfrm>
            <a:off x="6108192" y="3730752"/>
            <a:ext cx="402336" cy="402336"/>
          </a:xfrm>
          <a:prstGeom prst="ellipse">
            <a:avLst/>
          </a:prstGeom>
          <a:solidFill>
            <a:srgbClr val="E10098"/>
          </a:solidFill>
          <a:ln w="25400">
            <a:solidFill>
              <a:srgbClr val="E10098"/>
            </a:solidFill>
            <a:prstDash val="solid"/>
          </a:ln>
        </p:spPr>
        <p:txBody>
          <a:bodyPr/>
          <a:lstStyle/>
          <a:p>
            <a:endParaRPr lang="es-AR"/>
          </a:p>
        </p:txBody>
      </p:sp>
      <p:sp>
        <p:nvSpPr>
          <p:cNvPr id="26" name="Shape 23"/>
          <p:cNvSpPr/>
          <p:nvPr/>
        </p:nvSpPr>
        <p:spPr>
          <a:xfrm>
            <a:off x="7296912" y="3913632"/>
            <a:ext cx="402336" cy="402336"/>
          </a:xfrm>
          <a:prstGeom prst="ellipse">
            <a:avLst/>
          </a:prstGeom>
          <a:solidFill>
            <a:srgbClr val="FFFFFF"/>
          </a:solidFill>
          <a:ln w="25400">
            <a:solidFill>
              <a:srgbClr val="E10098"/>
            </a:solidFill>
            <a:prstDash val="solid"/>
          </a:ln>
        </p:spPr>
        <p:txBody>
          <a:bodyPr/>
          <a:lstStyle/>
          <a:p>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¿Qué es GraphQL?</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3</a:t>
            </a:r>
            <a:endParaRPr lang="en-US" sz="900" dirty="0"/>
          </a:p>
        </p:txBody>
      </p:sp>
      <p:sp>
        <p:nvSpPr>
          <p:cNvPr id="6" name="Text 3"/>
          <p:cNvSpPr txBox="1"/>
          <p:nvPr/>
        </p:nvSpPr>
        <p:spPr>
          <a:xfrm>
            <a:off x="457200" y="1051560"/>
            <a:ext cx="8229600" cy="822960"/>
          </a:xfrm>
          <a:prstGeom prst="rect">
            <a:avLst/>
          </a:prstGeom>
          <a:noFill/>
          <a:ln/>
        </p:spPr>
        <p:txBody>
          <a:bodyPr wrap="square" lIns="0" tIns="0" rIns="0" bIns="0" rtlCol="0" anchor="ctr"/>
          <a:lstStyle/>
          <a:p>
            <a:pPr marL="0" indent="0">
              <a:buNone/>
            </a:pPr>
            <a:r>
              <a:rPr lang="en-US" sz="2000" dirty="0">
                <a:solidFill>
                  <a:srgbClr val="1B1F3B"/>
                </a:solidFill>
                <a:latin typeface="Calibri" pitchFamily="34" charset="0"/>
                <a:ea typeface="Calibri" pitchFamily="34" charset="-122"/>
                <a:cs typeface="Calibri" pitchFamily="34" charset="-120"/>
              </a:rPr>
              <a:t>Un lenguaje de consulta para APIs: el cliente pide exactamente los datos que necesita, en una sola llamada.</a:t>
            </a:r>
            <a:endParaRPr lang="en-US" sz="2000" dirty="0"/>
          </a:p>
        </p:txBody>
      </p:sp>
      <p:sp>
        <p:nvSpPr>
          <p:cNvPr id="7" name="Shape 4"/>
          <p:cNvSpPr/>
          <p:nvPr/>
        </p:nvSpPr>
        <p:spPr>
          <a:xfrm>
            <a:off x="457200" y="2194560"/>
            <a:ext cx="2560320" cy="2194560"/>
          </a:xfrm>
          <a:prstGeom prst="roundRect">
            <a:avLst>
              <a:gd name="adj" fmla="val 5000"/>
            </a:avLst>
          </a:prstGeom>
          <a:solidFill>
            <a:srgbClr val="F6EEF6"/>
          </a:solidFill>
          <a:ln w="9525">
            <a:solidFill>
              <a:srgbClr val="E3D6E3"/>
            </a:solidFill>
            <a:prstDash val="solid"/>
          </a:ln>
        </p:spPr>
        <p:txBody>
          <a:bodyPr/>
          <a:lstStyle/>
          <a:p>
            <a:endParaRPr lang="es-AR"/>
          </a:p>
        </p:txBody>
      </p:sp>
      <p:sp>
        <p:nvSpPr>
          <p:cNvPr id="8" name="Shape 5"/>
          <p:cNvSpPr/>
          <p:nvPr/>
        </p:nvSpPr>
        <p:spPr>
          <a:xfrm>
            <a:off x="685800" y="24231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9" name="Image 0" descr="preencoded.png"/>
          <p:cNvPicPr>
            <a:picLocks noChangeAspect="1"/>
          </p:cNvPicPr>
          <p:nvPr/>
        </p:nvPicPr>
        <p:blipFill>
          <a:blip r:embed="rId3"/>
          <a:stretch>
            <a:fillRect/>
          </a:stretch>
        </p:blipFill>
        <p:spPr>
          <a:xfrm>
            <a:off x="822960" y="2560320"/>
            <a:ext cx="274320" cy="274320"/>
          </a:xfrm>
          <a:prstGeom prst="rect">
            <a:avLst/>
          </a:prstGeom>
        </p:spPr>
      </p:pic>
      <p:sp>
        <p:nvSpPr>
          <p:cNvPr id="10" name="Text 6"/>
          <p:cNvSpPr txBox="1"/>
          <p:nvPr/>
        </p:nvSpPr>
        <p:spPr>
          <a:xfrm>
            <a:off x="685800" y="3154680"/>
            <a:ext cx="2103120" cy="365760"/>
          </a:xfrm>
          <a:prstGeom prst="rect">
            <a:avLst/>
          </a:prstGeom>
          <a:noFill/>
          <a:ln/>
        </p:spPr>
        <p:txBody>
          <a:bodyPr wrap="square" lIns="0" tIns="0" rIns="0" bIns="0" rtlCol="0" anchor="ctr"/>
          <a:lstStyle/>
          <a:p>
            <a:pPr marL="0" indent="0">
              <a:buNone/>
            </a:pPr>
            <a:r>
              <a:rPr lang="en-US" sz="1800" b="1" dirty="0">
                <a:solidFill>
                  <a:srgbClr val="1B1F3B"/>
                </a:solidFill>
                <a:latin typeface="Cambria" pitchFamily="34" charset="0"/>
                <a:ea typeface="Cambria" pitchFamily="34" charset="-122"/>
                <a:cs typeface="Cambria" pitchFamily="34" charset="-120"/>
              </a:rPr>
              <a:t>Schema</a:t>
            </a:r>
            <a:endParaRPr lang="en-US" sz="1800" dirty="0"/>
          </a:p>
        </p:txBody>
      </p:sp>
      <p:sp>
        <p:nvSpPr>
          <p:cNvPr id="11" name="Text 7"/>
          <p:cNvSpPr txBox="1"/>
          <p:nvPr/>
        </p:nvSpPr>
        <p:spPr>
          <a:xfrm>
            <a:off x="685800" y="3566160"/>
            <a:ext cx="2103120" cy="731520"/>
          </a:xfrm>
          <a:prstGeom prst="rect">
            <a:avLst/>
          </a:prstGeom>
          <a:noFill/>
          <a:ln/>
        </p:spPr>
        <p:txBody>
          <a:bodyPr wrap="square" lIns="0" tIns="0" rIns="0" bIns="0" rtlCol="0" anchor="t"/>
          <a:lstStyle/>
          <a:p>
            <a:pPr marL="0" indent="0">
              <a:buNone/>
            </a:pPr>
            <a:r>
              <a:rPr lang="en-US" sz="1400" dirty="0">
                <a:solidFill>
                  <a:srgbClr val="5B6178"/>
                </a:solidFill>
                <a:latin typeface="Calibri" pitchFamily="34" charset="0"/>
                <a:ea typeface="Calibri" pitchFamily="34" charset="-122"/>
                <a:cs typeface="Calibri" pitchFamily="34" charset="-120"/>
              </a:rPr>
              <a:t>El contrato tipado: qué datos existen y cómo se relacionan.</a:t>
            </a:r>
            <a:endParaRPr lang="en-US" sz="1400" dirty="0"/>
          </a:p>
        </p:txBody>
      </p:sp>
      <p:sp>
        <p:nvSpPr>
          <p:cNvPr id="12" name="Shape 8"/>
          <p:cNvSpPr/>
          <p:nvPr/>
        </p:nvSpPr>
        <p:spPr>
          <a:xfrm>
            <a:off x="3291840" y="2194560"/>
            <a:ext cx="2560320" cy="2194560"/>
          </a:xfrm>
          <a:prstGeom prst="roundRect">
            <a:avLst>
              <a:gd name="adj" fmla="val 5000"/>
            </a:avLst>
          </a:prstGeom>
          <a:solidFill>
            <a:srgbClr val="F6EEF6"/>
          </a:solidFill>
          <a:ln w="9525">
            <a:solidFill>
              <a:srgbClr val="E3D6E3"/>
            </a:solidFill>
            <a:prstDash val="solid"/>
          </a:ln>
        </p:spPr>
        <p:txBody>
          <a:bodyPr/>
          <a:lstStyle/>
          <a:p>
            <a:endParaRPr lang="es-AR"/>
          </a:p>
        </p:txBody>
      </p:sp>
      <p:sp>
        <p:nvSpPr>
          <p:cNvPr id="13" name="Shape 9"/>
          <p:cNvSpPr/>
          <p:nvPr/>
        </p:nvSpPr>
        <p:spPr>
          <a:xfrm>
            <a:off x="3520440" y="24231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14" name="Image 1" descr="preencoded.png"/>
          <p:cNvPicPr>
            <a:picLocks noChangeAspect="1"/>
          </p:cNvPicPr>
          <p:nvPr/>
        </p:nvPicPr>
        <p:blipFill>
          <a:blip r:embed="rId4"/>
          <a:stretch>
            <a:fillRect/>
          </a:stretch>
        </p:blipFill>
        <p:spPr>
          <a:xfrm>
            <a:off x="3657600" y="2560320"/>
            <a:ext cx="274320" cy="274320"/>
          </a:xfrm>
          <a:prstGeom prst="rect">
            <a:avLst/>
          </a:prstGeom>
        </p:spPr>
      </p:pic>
      <p:sp>
        <p:nvSpPr>
          <p:cNvPr id="15" name="Text 10"/>
          <p:cNvSpPr txBox="1"/>
          <p:nvPr/>
        </p:nvSpPr>
        <p:spPr>
          <a:xfrm>
            <a:off x="3520440" y="3154680"/>
            <a:ext cx="2103120" cy="365760"/>
          </a:xfrm>
          <a:prstGeom prst="rect">
            <a:avLst/>
          </a:prstGeom>
          <a:noFill/>
          <a:ln/>
        </p:spPr>
        <p:txBody>
          <a:bodyPr wrap="square" lIns="0" tIns="0" rIns="0" bIns="0" rtlCol="0" anchor="ctr"/>
          <a:lstStyle/>
          <a:p>
            <a:pPr marL="0" indent="0">
              <a:buNone/>
            </a:pPr>
            <a:r>
              <a:rPr lang="en-US" sz="1800" b="1" dirty="0">
                <a:solidFill>
                  <a:srgbClr val="1B1F3B"/>
                </a:solidFill>
                <a:latin typeface="Cambria" pitchFamily="34" charset="0"/>
                <a:ea typeface="Cambria" pitchFamily="34" charset="-122"/>
                <a:cs typeface="Cambria" pitchFamily="34" charset="-120"/>
              </a:rPr>
              <a:t>Un solo endpoint</a:t>
            </a:r>
            <a:endParaRPr lang="en-US" sz="1800" dirty="0"/>
          </a:p>
        </p:txBody>
      </p:sp>
      <p:sp>
        <p:nvSpPr>
          <p:cNvPr id="16" name="Text 11"/>
          <p:cNvSpPr txBox="1"/>
          <p:nvPr/>
        </p:nvSpPr>
        <p:spPr>
          <a:xfrm>
            <a:off x="3520440" y="3566160"/>
            <a:ext cx="2103120" cy="731520"/>
          </a:xfrm>
          <a:prstGeom prst="rect">
            <a:avLst/>
          </a:prstGeom>
          <a:noFill/>
          <a:ln/>
        </p:spPr>
        <p:txBody>
          <a:bodyPr wrap="square" lIns="0" tIns="0" rIns="0" bIns="0" rtlCol="0" anchor="t"/>
          <a:lstStyle/>
          <a:p>
            <a:pPr marL="0" indent="0">
              <a:buNone/>
            </a:pPr>
            <a:r>
              <a:rPr lang="en-US" sz="1400" dirty="0">
                <a:solidFill>
                  <a:srgbClr val="5B6178"/>
                </a:solidFill>
                <a:latin typeface="Calibri" pitchFamily="34" charset="0"/>
                <a:ea typeface="Calibri" pitchFamily="34" charset="-122"/>
                <a:cs typeface="Calibri" pitchFamily="34" charset="-120"/>
              </a:rPr>
              <a:t>POST /graphql con un JSON. Es HTTP común.</a:t>
            </a:r>
            <a:endParaRPr lang="en-US" sz="1400" dirty="0"/>
          </a:p>
        </p:txBody>
      </p:sp>
      <p:sp>
        <p:nvSpPr>
          <p:cNvPr id="17" name="Shape 12"/>
          <p:cNvSpPr/>
          <p:nvPr/>
        </p:nvSpPr>
        <p:spPr>
          <a:xfrm>
            <a:off x="6126480" y="2194560"/>
            <a:ext cx="2560320" cy="2194560"/>
          </a:xfrm>
          <a:prstGeom prst="roundRect">
            <a:avLst>
              <a:gd name="adj" fmla="val 5000"/>
            </a:avLst>
          </a:prstGeom>
          <a:solidFill>
            <a:srgbClr val="F6EEF6"/>
          </a:solidFill>
          <a:ln w="9525">
            <a:solidFill>
              <a:srgbClr val="E3D6E3"/>
            </a:solidFill>
            <a:prstDash val="solid"/>
          </a:ln>
        </p:spPr>
        <p:txBody>
          <a:bodyPr/>
          <a:lstStyle/>
          <a:p>
            <a:endParaRPr lang="es-AR"/>
          </a:p>
        </p:txBody>
      </p:sp>
      <p:sp>
        <p:nvSpPr>
          <p:cNvPr id="18" name="Shape 13"/>
          <p:cNvSpPr/>
          <p:nvPr/>
        </p:nvSpPr>
        <p:spPr>
          <a:xfrm>
            <a:off x="6355080" y="24231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19" name="Image 2" descr="preencoded.png"/>
          <p:cNvPicPr>
            <a:picLocks noChangeAspect="1"/>
          </p:cNvPicPr>
          <p:nvPr/>
        </p:nvPicPr>
        <p:blipFill>
          <a:blip r:embed="rId5"/>
          <a:stretch>
            <a:fillRect/>
          </a:stretch>
        </p:blipFill>
        <p:spPr>
          <a:xfrm>
            <a:off x="6492240" y="2560320"/>
            <a:ext cx="274320" cy="274320"/>
          </a:xfrm>
          <a:prstGeom prst="rect">
            <a:avLst/>
          </a:prstGeom>
        </p:spPr>
      </p:pic>
      <p:sp>
        <p:nvSpPr>
          <p:cNvPr id="20" name="Text 14"/>
          <p:cNvSpPr txBox="1"/>
          <p:nvPr/>
        </p:nvSpPr>
        <p:spPr>
          <a:xfrm>
            <a:off x="6355080" y="3154680"/>
            <a:ext cx="2103120" cy="365760"/>
          </a:xfrm>
          <a:prstGeom prst="rect">
            <a:avLst/>
          </a:prstGeom>
          <a:noFill/>
          <a:ln/>
        </p:spPr>
        <p:txBody>
          <a:bodyPr wrap="square" lIns="0" tIns="0" rIns="0" bIns="0" rtlCol="0" anchor="ctr"/>
          <a:lstStyle/>
          <a:p>
            <a:pPr marL="0" indent="0">
              <a:buNone/>
            </a:pPr>
            <a:r>
              <a:rPr lang="en-US" sz="1800" b="1" dirty="0">
                <a:solidFill>
                  <a:srgbClr val="1B1F3B"/>
                </a:solidFill>
                <a:latin typeface="Cambria" pitchFamily="34" charset="0"/>
                <a:ea typeface="Cambria" pitchFamily="34" charset="-122"/>
                <a:cs typeface="Cambria" pitchFamily="34" charset="-120"/>
              </a:rPr>
              <a:t>El cliente decide</a:t>
            </a:r>
            <a:endParaRPr lang="en-US" sz="1800" dirty="0"/>
          </a:p>
        </p:txBody>
      </p:sp>
      <p:sp>
        <p:nvSpPr>
          <p:cNvPr id="21" name="Text 15"/>
          <p:cNvSpPr txBox="1"/>
          <p:nvPr/>
        </p:nvSpPr>
        <p:spPr>
          <a:xfrm>
            <a:off x="6355080" y="3566160"/>
            <a:ext cx="2103120" cy="731520"/>
          </a:xfrm>
          <a:prstGeom prst="rect">
            <a:avLst/>
          </a:prstGeom>
          <a:noFill/>
          <a:ln/>
        </p:spPr>
        <p:txBody>
          <a:bodyPr wrap="square" lIns="0" tIns="0" rIns="0" bIns="0" rtlCol="0" anchor="t"/>
          <a:lstStyle/>
          <a:p>
            <a:pPr marL="0" indent="0">
              <a:buNone/>
            </a:pPr>
            <a:r>
              <a:rPr lang="en-US" sz="1400" dirty="0">
                <a:solidFill>
                  <a:srgbClr val="5B6178"/>
                </a:solidFill>
                <a:latin typeface="Calibri" pitchFamily="34" charset="0"/>
                <a:ea typeface="Calibri" pitchFamily="34" charset="-122"/>
                <a:cs typeface="Calibri" pitchFamily="34" charset="-120"/>
              </a:rPr>
              <a:t>Cada consulta elige sus campos y relaciones.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El schema y una consulta</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4</a:t>
            </a:r>
            <a:endParaRPr lang="en-US" sz="900" dirty="0"/>
          </a:p>
        </p:txBody>
      </p:sp>
      <p:sp>
        <p:nvSpPr>
          <p:cNvPr id="6" name="Text 3"/>
          <p:cNvSpPr txBox="1"/>
          <p:nvPr/>
        </p:nvSpPr>
        <p:spPr>
          <a:xfrm>
            <a:off x="457200" y="1051560"/>
            <a:ext cx="3657600" cy="274320"/>
          </a:xfrm>
          <a:prstGeom prst="rect">
            <a:avLst/>
          </a:prstGeom>
          <a:noFill/>
          <a:ln/>
        </p:spPr>
        <p:txBody>
          <a:bodyPr wrap="square" lIns="0" tIns="0" rIns="0" bIns="0" rtlCol="0" anchor="ctr"/>
          <a:lstStyle/>
          <a:p>
            <a:pPr marL="0" indent="0">
              <a:buNone/>
            </a:pPr>
            <a:r>
              <a:rPr lang="en-US" sz="1300" b="1" dirty="0">
                <a:solidFill>
                  <a:srgbClr val="E10098"/>
                </a:solidFill>
                <a:latin typeface="Calibri" pitchFamily="34" charset="0"/>
                <a:ea typeface="Calibri" pitchFamily="34" charset="-122"/>
                <a:cs typeface="Calibri" pitchFamily="34" charset="-120"/>
              </a:rPr>
              <a:t>Schema</a:t>
            </a:r>
            <a:endParaRPr lang="en-US" sz="1300" dirty="0"/>
          </a:p>
        </p:txBody>
      </p:sp>
      <p:sp>
        <p:nvSpPr>
          <p:cNvPr id="7" name="Shape 4"/>
          <p:cNvSpPr/>
          <p:nvPr/>
        </p:nvSpPr>
        <p:spPr>
          <a:xfrm>
            <a:off x="457200" y="1371600"/>
            <a:ext cx="3840480" cy="3017520"/>
          </a:xfrm>
          <a:prstGeom prst="roundRect">
            <a:avLst>
              <a:gd name="adj" fmla="val 2424"/>
            </a:avLst>
          </a:prstGeom>
          <a:solidFill>
            <a:srgbClr val="FFFFFF"/>
          </a:solidFill>
          <a:ln w="12700">
            <a:solidFill>
              <a:srgbClr val="E3D6E3"/>
            </a:solidFill>
            <a:prstDash val="solid"/>
          </a:ln>
        </p:spPr>
        <p:txBody>
          <a:bodyPr/>
          <a:lstStyle/>
          <a:p>
            <a:endParaRPr lang="es-AR"/>
          </a:p>
        </p:txBody>
      </p:sp>
      <p:sp>
        <p:nvSpPr>
          <p:cNvPr id="8" name="Text 5"/>
          <p:cNvSpPr txBox="1"/>
          <p:nvPr/>
        </p:nvSpPr>
        <p:spPr>
          <a:xfrm>
            <a:off x="594360" y="1463040"/>
            <a:ext cx="3566160" cy="2834640"/>
          </a:xfrm>
          <a:prstGeom prst="rect">
            <a:avLst/>
          </a:prstGeom>
          <a:noFill/>
          <a:ln/>
        </p:spPr>
        <p:txBody>
          <a:bodyPr wrap="square" lIns="0" tIns="0" rIns="0" bIns="0" rtlCol="0" anchor="t"/>
          <a:lstStyle/>
          <a:p>
            <a:pPr marL="0" indent="0">
              <a:buNone/>
            </a:pPr>
            <a:r>
              <a:rPr lang="en-US" sz="1200" dirty="0">
                <a:solidFill>
                  <a:srgbClr val="1B1F3B"/>
                </a:solidFill>
                <a:latin typeface="Courier New" pitchFamily="34" charset="0"/>
                <a:ea typeface="Courier New" pitchFamily="34" charset="-122"/>
                <a:cs typeface="Courier New" pitchFamily="34" charset="-120"/>
              </a:rPr>
              <a:t>type Turno {</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id: ID!</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fecha: String!</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estado: EstadoTurno!</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paciente: Paciente!</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profesional: Profesional!</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type Query {</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turno(id: ID!): Turno</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turnos(profesionalId: ID): [Turno!]!</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a:t>
            </a:r>
            <a:endParaRPr lang="en-US" sz="1200" dirty="0"/>
          </a:p>
        </p:txBody>
      </p:sp>
      <p:sp>
        <p:nvSpPr>
          <p:cNvPr id="9" name="Text 6"/>
          <p:cNvSpPr txBox="1"/>
          <p:nvPr/>
        </p:nvSpPr>
        <p:spPr>
          <a:xfrm>
            <a:off x="4663440" y="1051560"/>
            <a:ext cx="3657600" cy="274320"/>
          </a:xfrm>
          <a:prstGeom prst="rect">
            <a:avLst/>
          </a:prstGeom>
          <a:noFill/>
          <a:ln/>
        </p:spPr>
        <p:txBody>
          <a:bodyPr wrap="square" lIns="0" tIns="0" rIns="0" bIns="0" rtlCol="0" anchor="ctr"/>
          <a:lstStyle/>
          <a:p>
            <a:pPr marL="0" indent="0">
              <a:buNone/>
            </a:pPr>
            <a:r>
              <a:rPr lang="en-US" sz="1300" b="1" dirty="0">
                <a:solidFill>
                  <a:srgbClr val="E10098"/>
                </a:solidFill>
                <a:latin typeface="Calibri" pitchFamily="34" charset="0"/>
                <a:ea typeface="Calibri" pitchFamily="34" charset="-122"/>
                <a:cs typeface="Calibri" pitchFamily="34" charset="-120"/>
              </a:rPr>
              <a:t>Consulta</a:t>
            </a:r>
            <a:endParaRPr lang="en-US" sz="1300" dirty="0"/>
          </a:p>
        </p:txBody>
      </p:sp>
      <p:sp>
        <p:nvSpPr>
          <p:cNvPr id="10" name="Shape 7"/>
          <p:cNvSpPr/>
          <p:nvPr/>
        </p:nvSpPr>
        <p:spPr>
          <a:xfrm>
            <a:off x="4663440" y="1371600"/>
            <a:ext cx="4023360" cy="1097280"/>
          </a:xfrm>
          <a:prstGeom prst="roundRect">
            <a:avLst>
              <a:gd name="adj" fmla="val 6667"/>
            </a:avLst>
          </a:prstGeom>
          <a:solidFill>
            <a:srgbClr val="FFFFFF"/>
          </a:solidFill>
          <a:ln w="12700">
            <a:solidFill>
              <a:srgbClr val="E3D6E3"/>
            </a:solidFill>
            <a:prstDash val="solid"/>
          </a:ln>
        </p:spPr>
        <p:txBody>
          <a:bodyPr/>
          <a:lstStyle/>
          <a:p>
            <a:endParaRPr lang="es-AR"/>
          </a:p>
        </p:txBody>
      </p:sp>
      <p:sp>
        <p:nvSpPr>
          <p:cNvPr id="11" name="Text 8"/>
          <p:cNvSpPr txBox="1"/>
          <p:nvPr/>
        </p:nvSpPr>
        <p:spPr>
          <a:xfrm>
            <a:off x="4800600" y="1463040"/>
            <a:ext cx="3749040" cy="914400"/>
          </a:xfrm>
          <a:prstGeom prst="rect">
            <a:avLst/>
          </a:prstGeom>
          <a:noFill/>
          <a:ln/>
        </p:spPr>
        <p:txBody>
          <a:bodyPr wrap="square" lIns="0" tIns="0" rIns="0" bIns="0" rtlCol="0" anchor="t"/>
          <a:lstStyle/>
          <a:p>
            <a:pPr marL="0" indent="0">
              <a:buNone/>
            </a:pPr>
            <a:r>
              <a:rPr lang="en-US" sz="1200" dirty="0">
                <a:solidFill>
                  <a:srgbClr val="1B1F3B"/>
                </a:solidFill>
                <a:latin typeface="Courier New" pitchFamily="34" charset="0"/>
                <a:ea typeface="Courier New" pitchFamily="34" charset="-122"/>
                <a:cs typeface="Courier New" pitchFamily="34" charset="-120"/>
              </a:rPr>
              <a:t>{ turno(id: "turno-1") {</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fecha</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paciente { nombre }</a:t>
            </a:r>
            <a:endParaRPr lang="en-US" sz="1200" dirty="0"/>
          </a:p>
          <a:p>
            <a:pPr marL="0" indent="0">
              <a:buNone/>
            </a:pPr>
            <a:r>
              <a:rPr lang="en-US" sz="1200" dirty="0">
                <a:solidFill>
                  <a:srgbClr val="1B1F3B"/>
                </a:solidFill>
                <a:latin typeface="Courier New" pitchFamily="34" charset="0"/>
                <a:ea typeface="Courier New" pitchFamily="34" charset="-122"/>
                <a:cs typeface="Courier New" pitchFamily="34" charset="-120"/>
              </a:rPr>
              <a:t>} }</a:t>
            </a:r>
            <a:endParaRPr lang="en-US" sz="1200" dirty="0"/>
          </a:p>
        </p:txBody>
      </p:sp>
      <p:sp>
        <p:nvSpPr>
          <p:cNvPr id="12" name="Text 9"/>
          <p:cNvSpPr txBox="1"/>
          <p:nvPr/>
        </p:nvSpPr>
        <p:spPr>
          <a:xfrm>
            <a:off x="4663440" y="2606040"/>
            <a:ext cx="3657600" cy="274320"/>
          </a:xfrm>
          <a:prstGeom prst="rect">
            <a:avLst/>
          </a:prstGeom>
          <a:noFill/>
          <a:ln/>
        </p:spPr>
        <p:txBody>
          <a:bodyPr wrap="square" lIns="0" tIns="0" rIns="0" bIns="0" rtlCol="0" anchor="ctr"/>
          <a:lstStyle/>
          <a:p>
            <a:pPr marL="0" indent="0">
              <a:buNone/>
            </a:pPr>
            <a:r>
              <a:rPr lang="en-US" sz="1300" b="1" dirty="0">
                <a:solidFill>
                  <a:srgbClr val="E10098"/>
                </a:solidFill>
                <a:latin typeface="Calibri" pitchFamily="34" charset="0"/>
                <a:ea typeface="Calibri" pitchFamily="34" charset="-122"/>
                <a:cs typeface="Calibri" pitchFamily="34" charset="-120"/>
              </a:rPr>
              <a:t>Respuesta</a:t>
            </a:r>
            <a:endParaRPr lang="en-US" sz="1300" dirty="0"/>
          </a:p>
        </p:txBody>
      </p:sp>
      <p:sp>
        <p:nvSpPr>
          <p:cNvPr id="13" name="Shape 10"/>
          <p:cNvSpPr/>
          <p:nvPr/>
        </p:nvSpPr>
        <p:spPr>
          <a:xfrm>
            <a:off x="4663440" y="2926080"/>
            <a:ext cx="4023360" cy="1097280"/>
          </a:xfrm>
          <a:prstGeom prst="roundRect">
            <a:avLst>
              <a:gd name="adj" fmla="val 6667"/>
            </a:avLst>
          </a:prstGeom>
          <a:solidFill>
            <a:srgbClr val="FFFFFF"/>
          </a:solidFill>
          <a:ln w="12700">
            <a:solidFill>
              <a:srgbClr val="E3D6E3"/>
            </a:solidFill>
            <a:prstDash val="solid"/>
          </a:ln>
        </p:spPr>
        <p:txBody>
          <a:bodyPr/>
          <a:lstStyle/>
          <a:p>
            <a:endParaRPr lang="es-AR"/>
          </a:p>
        </p:txBody>
      </p:sp>
      <p:sp>
        <p:nvSpPr>
          <p:cNvPr id="14" name="Text 11"/>
          <p:cNvSpPr txBox="1"/>
          <p:nvPr/>
        </p:nvSpPr>
        <p:spPr>
          <a:xfrm>
            <a:off x="4800600" y="3017520"/>
            <a:ext cx="3749040" cy="914400"/>
          </a:xfrm>
          <a:prstGeom prst="rect">
            <a:avLst/>
          </a:prstGeom>
          <a:noFill/>
          <a:ln/>
        </p:spPr>
        <p:txBody>
          <a:bodyPr wrap="square" lIns="0" tIns="0" rIns="0" bIns="0" rtlCol="0" anchor="t"/>
          <a:lstStyle/>
          <a:p>
            <a:pPr marL="0" indent="0">
              <a:buNone/>
            </a:pPr>
            <a:r>
              <a:rPr lang="en-US" sz="1100" dirty="0">
                <a:solidFill>
                  <a:srgbClr val="1B1F3B"/>
                </a:solidFill>
                <a:latin typeface="Courier New" pitchFamily="34" charset="0"/>
                <a:ea typeface="Courier New" pitchFamily="34" charset="-122"/>
                <a:cs typeface="Courier New" pitchFamily="34" charset="-120"/>
              </a:rPr>
              <a:t>{ "data": { "turno": {</a:t>
            </a:r>
            <a:endParaRPr lang="en-US" sz="1100" dirty="0"/>
          </a:p>
          <a:p>
            <a:pPr marL="0" indent="0">
              <a:buNone/>
            </a:pPr>
            <a:r>
              <a:rPr lang="en-US" sz="1100" dirty="0">
                <a:solidFill>
                  <a:srgbClr val="1B1F3B"/>
                </a:solidFill>
                <a:latin typeface="Courier New" pitchFamily="34" charset="0"/>
                <a:ea typeface="Courier New" pitchFamily="34" charset="-122"/>
                <a:cs typeface="Courier New" pitchFamily="34" charset="-120"/>
              </a:rPr>
              <a:t>    "fecha": "2030-05-20T09:00:00Z",</a:t>
            </a:r>
            <a:endParaRPr lang="en-US" sz="1100" dirty="0"/>
          </a:p>
          <a:p>
            <a:pPr marL="0" indent="0">
              <a:buNone/>
            </a:pPr>
            <a:r>
              <a:rPr lang="en-US" sz="1100" dirty="0">
                <a:solidFill>
                  <a:srgbClr val="1B1F3B"/>
                </a:solidFill>
                <a:latin typeface="Courier New" pitchFamily="34" charset="0"/>
                <a:ea typeface="Courier New" pitchFamily="34" charset="-122"/>
                <a:cs typeface="Courier New" pitchFamily="34" charset="-120"/>
              </a:rPr>
              <a:t>    "paciente": { "nombre": "Ana Pérez" }</a:t>
            </a:r>
            <a:endParaRPr lang="en-US" sz="1100" dirty="0"/>
          </a:p>
          <a:p>
            <a:pPr marL="0" indent="0">
              <a:buNone/>
            </a:pPr>
            <a:r>
              <a:rPr lang="en-US" sz="1100" dirty="0">
                <a:solidFill>
                  <a:srgbClr val="1B1F3B"/>
                </a:solidFill>
                <a:latin typeface="Courier New" pitchFamily="34" charset="0"/>
                <a:ea typeface="Courier New" pitchFamily="34" charset="-122"/>
                <a:cs typeface="Courier New" pitchFamily="34" charset="-120"/>
              </a:rPr>
              <a:t>} } }</a:t>
            </a:r>
            <a:endParaRPr lang="en-US" sz="1100" dirty="0"/>
          </a:p>
        </p:txBody>
      </p:sp>
      <p:sp>
        <p:nvSpPr>
          <p:cNvPr id="15" name="Text 12"/>
          <p:cNvSpPr txBox="1"/>
          <p:nvPr/>
        </p:nvSpPr>
        <p:spPr>
          <a:xfrm>
            <a:off x="4663440" y="4114800"/>
            <a:ext cx="4023360" cy="274320"/>
          </a:xfrm>
          <a:prstGeom prst="rect">
            <a:avLst/>
          </a:prstGeom>
          <a:noFill/>
          <a:ln/>
        </p:spPr>
        <p:txBody>
          <a:bodyPr wrap="square" lIns="0" tIns="0" rIns="0" bIns="0" rtlCol="0" anchor="ctr"/>
          <a:lstStyle/>
          <a:p>
            <a:pPr marL="0" indent="0">
              <a:buNone/>
            </a:pPr>
            <a:r>
              <a:rPr lang="en-US" sz="1200" i="1" dirty="0">
                <a:solidFill>
                  <a:srgbClr val="5B6178"/>
                </a:solidFill>
                <a:latin typeface="Calibri" pitchFamily="34" charset="0"/>
                <a:ea typeface="Calibri" pitchFamily="34" charset="-122"/>
                <a:cs typeface="Calibri" pitchFamily="34" charset="-120"/>
              </a:rPr>
              <a:t>La respuesta tiene la misma forma que la consulta.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Lo que ofrece</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005840"/>
            <a:ext cx="2560320" cy="1691640"/>
          </a:xfrm>
          <a:prstGeom prst="roundRect">
            <a:avLst>
              <a:gd name="adj" fmla="val 6486"/>
            </a:avLst>
          </a:prstGeom>
          <a:solidFill>
            <a:srgbClr val="F6EEF6"/>
          </a:solidFill>
          <a:ln w="9525">
            <a:solidFill>
              <a:srgbClr val="E3D6E3"/>
            </a:solidFill>
            <a:prstDash val="solid"/>
          </a:ln>
        </p:spPr>
        <p:txBody>
          <a:bodyPr/>
          <a:lstStyle/>
          <a:p>
            <a:endParaRPr lang="es-AR"/>
          </a:p>
        </p:txBody>
      </p:sp>
      <p:sp>
        <p:nvSpPr>
          <p:cNvPr id="7" name="Shape 4"/>
          <p:cNvSpPr/>
          <p:nvPr/>
        </p:nvSpPr>
        <p:spPr>
          <a:xfrm>
            <a:off x="640080" y="11430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8" name="Image 0" descr="preencoded.png"/>
          <p:cNvPicPr>
            <a:picLocks noChangeAspect="1"/>
          </p:cNvPicPr>
          <p:nvPr/>
        </p:nvPicPr>
        <p:blipFill>
          <a:blip r:embed="rId3"/>
          <a:stretch>
            <a:fillRect/>
          </a:stretch>
        </p:blipFill>
        <p:spPr>
          <a:xfrm>
            <a:off x="777240" y="1280160"/>
            <a:ext cx="274320" cy="274320"/>
          </a:xfrm>
          <a:prstGeom prst="rect">
            <a:avLst/>
          </a:prstGeom>
        </p:spPr>
      </p:pic>
      <p:sp>
        <p:nvSpPr>
          <p:cNvPr id="9" name="Text 5"/>
          <p:cNvSpPr txBox="1"/>
          <p:nvPr/>
        </p:nvSpPr>
        <p:spPr>
          <a:xfrm>
            <a:off x="1325880" y="1143000"/>
            <a:ext cx="1600200" cy="54864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Introspección</a:t>
            </a:r>
            <a:endParaRPr lang="en-US" sz="1600" dirty="0"/>
          </a:p>
        </p:txBody>
      </p:sp>
      <p:sp>
        <p:nvSpPr>
          <p:cNvPr id="10" name="Text 6"/>
          <p:cNvSpPr txBox="1"/>
          <p:nvPr/>
        </p:nvSpPr>
        <p:spPr>
          <a:xfrm>
            <a:off x="640080" y="1783080"/>
            <a:ext cx="2194560" cy="868680"/>
          </a:xfrm>
          <a:prstGeom prst="rect">
            <a:avLst/>
          </a:prstGeom>
          <a:noFill/>
          <a:ln/>
        </p:spPr>
        <p:txBody>
          <a:bodyPr wrap="square" lIns="0" tIns="0" rIns="0" bIns="0" rtlCol="0" anchor="t"/>
          <a:lstStyle/>
          <a:p>
            <a:pPr marL="0" indent="0">
              <a:buNone/>
            </a:pPr>
            <a:r>
              <a:rPr lang="en-US" sz="1200" dirty="0">
                <a:solidFill>
                  <a:srgbClr val="5B6178"/>
                </a:solidFill>
                <a:latin typeface="Calibri" pitchFamily="34" charset="0"/>
                <a:ea typeface="Calibri" pitchFamily="34" charset="-122"/>
                <a:cs typeface="Calibri" pitchFamily="34" charset="-120"/>
              </a:rPr>
              <a:t>El servidor describe su propio schema: tipos, campos y argumentos. Así funcionan GraphiQL y el autocompletado.</a:t>
            </a:r>
            <a:endParaRPr lang="en-US" sz="1200" dirty="0"/>
          </a:p>
        </p:txBody>
      </p:sp>
      <p:sp>
        <p:nvSpPr>
          <p:cNvPr id="11" name="Shape 7"/>
          <p:cNvSpPr/>
          <p:nvPr/>
        </p:nvSpPr>
        <p:spPr>
          <a:xfrm>
            <a:off x="3291840" y="1005840"/>
            <a:ext cx="2560320" cy="1691640"/>
          </a:xfrm>
          <a:prstGeom prst="roundRect">
            <a:avLst>
              <a:gd name="adj" fmla="val 6486"/>
            </a:avLst>
          </a:prstGeom>
          <a:solidFill>
            <a:srgbClr val="F6EEF6"/>
          </a:solidFill>
          <a:ln w="9525">
            <a:solidFill>
              <a:srgbClr val="E3D6E3"/>
            </a:solidFill>
            <a:prstDash val="solid"/>
          </a:ln>
        </p:spPr>
        <p:txBody>
          <a:bodyPr/>
          <a:lstStyle/>
          <a:p>
            <a:endParaRPr lang="es-AR"/>
          </a:p>
        </p:txBody>
      </p:sp>
      <p:sp>
        <p:nvSpPr>
          <p:cNvPr id="12" name="Shape 8"/>
          <p:cNvSpPr/>
          <p:nvPr/>
        </p:nvSpPr>
        <p:spPr>
          <a:xfrm>
            <a:off x="3474720" y="11430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13" name="Image 1" descr="preencoded.png"/>
          <p:cNvPicPr>
            <a:picLocks noChangeAspect="1"/>
          </p:cNvPicPr>
          <p:nvPr/>
        </p:nvPicPr>
        <p:blipFill>
          <a:blip r:embed="rId4"/>
          <a:stretch>
            <a:fillRect/>
          </a:stretch>
        </p:blipFill>
        <p:spPr>
          <a:xfrm>
            <a:off x="3611880" y="1280160"/>
            <a:ext cx="274320" cy="274320"/>
          </a:xfrm>
          <a:prstGeom prst="rect">
            <a:avLst/>
          </a:prstGeom>
        </p:spPr>
      </p:pic>
      <p:sp>
        <p:nvSpPr>
          <p:cNvPr id="14" name="Text 9"/>
          <p:cNvSpPr txBox="1"/>
          <p:nvPr/>
        </p:nvSpPr>
        <p:spPr>
          <a:xfrm>
            <a:off x="4160520" y="1143000"/>
            <a:ext cx="1600200" cy="54864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Variables</a:t>
            </a:r>
            <a:endParaRPr lang="en-US" sz="1600" dirty="0"/>
          </a:p>
        </p:txBody>
      </p:sp>
      <p:sp>
        <p:nvSpPr>
          <p:cNvPr id="15" name="Text 10"/>
          <p:cNvSpPr txBox="1"/>
          <p:nvPr/>
        </p:nvSpPr>
        <p:spPr>
          <a:xfrm>
            <a:off x="3474720" y="1783080"/>
            <a:ext cx="2194560" cy="868680"/>
          </a:xfrm>
          <a:prstGeom prst="rect">
            <a:avLst/>
          </a:prstGeom>
          <a:noFill/>
          <a:ln/>
        </p:spPr>
        <p:txBody>
          <a:bodyPr wrap="square" lIns="0" tIns="0" rIns="0" bIns="0" rtlCol="0" anchor="t"/>
          <a:lstStyle/>
          <a:p>
            <a:pPr marL="0" indent="0">
              <a:buNone/>
            </a:pPr>
            <a:r>
              <a:rPr lang="en-US" sz="1200" dirty="0">
                <a:solidFill>
                  <a:srgbClr val="5B6178"/>
                </a:solidFill>
                <a:latin typeface="Calibri" pitchFamily="34" charset="0"/>
                <a:ea typeface="Calibri" pitchFamily="34" charset="-122"/>
                <a:cs typeface="Calibri" pitchFamily="34" charset="-120"/>
              </a:rPr>
              <a:t>La consulta queda fija y los valores viajan aparte, con su tipo validado por el schema.</a:t>
            </a:r>
            <a:endParaRPr lang="en-US" sz="1200" dirty="0"/>
          </a:p>
        </p:txBody>
      </p:sp>
      <p:sp>
        <p:nvSpPr>
          <p:cNvPr id="16" name="Shape 11"/>
          <p:cNvSpPr/>
          <p:nvPr/>
        </p:nvSpPr>
        <p:spPr>
          <a:xfrm>
            <a:off x="6126480" y="1005840"/>
            <a:ext cx="2560320" cy="1691640"/>
          </a:xfrm>
          <a:prstGeom prst="roundRect">
            <a:avLst>
              <a:gd name="adj" fmla="val 6486"/>
            </a:avLst>
          </a:prstGeom>
          <a:solidFill>
            <a:srgbClr val="F6EEF6"/>
          </a:solidFill>
          <a:ln w="9525">
            <a:solidFill>
              <a:srgbClr val="E3D6E3"/>
            </a:solidFill>
            <a:prstDash val="solid"/>
          </a:ln>
        </p:spPr>
        <p:txBody>
          <a:bodyPr/>
          <a:lstStyle/>
          <a:p>
            <a:endParaRPr lang="es-AR"/>
          </a:p>
        </p:txBody>
      </p:sp>
      <p:sp>
        <p:nvSpPr>
          <p:cNvPr id="17" name="Shape 12"/>
          <p:cNvSpPr/>
          <p:nvPr/>
        </p:nvSpPr>
        <p:spPr>
          <a:xfrm>
            <a:off x="6309360" y="11430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18" name="Image 2" descr="preencoded.png"/>
          <p:cNvPicPr>
            <a:picLocks noChangeAspect="1"/>
          </p:cNvPicPr>
          <p:nvPr/>
        </p:nvPicPr>
        <p:blipFill>
          <a:blip r:embed="rId5"/>
          <a:stretch>
            <a:fillRect/>
          </a:stretch>
        </p:blipFill>
        <p:spPr>
          <a:xfrm>
            <a:off x="6446520" y="1280160"/>
            <a:ext cx="274320" cy="274320"/>
          </a:xfrm>
          <a:prstGeom prst="rect">
            <a:avLst/>
          </a:prstGeom>
        </p:spPr>
      </p:pic>
      <p:sp>
        <p:nvSpPr>
          <p:cNvPr id="19" name="Text 13"/>
          <p:cNvSpPr txBox="1"/>
          <p:nvPr/>
        </p:nvSpPr>
        <p:spPr>
          <a:xfrm>
            <a:off x="6995160" y="1143000"/>
            <a:ext cx="1600200" cy="54864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Alias</a:t>
            </a:r>
            <a:endParaRPr lang="en-US" sz="1600" dirty="0"/>
          </a:p>
        </p:txBody>
      </p:sp>
      <p:sp>
        <p:nvSpPr>
          <p:cNvPr id="20" name="Text 14"/>
          <p:cNvSpPr txBox="1"/>
          <p:nvPr/>
        </p:nvSpPr>
        <p:spPr>
          <a:xfrm>
            <a:off x="6309360" y="1783080"/>
            <a:ext cx="2194560" cy="868680"/>
          </a:xfrm>
          <a:prstGeom prst="rect">
            <a:avLst/>
          </a:prstGeom>
          <a:noFill/>
          <a:ln/>
        </p:spPr>
        <p:txBody>
          <a:bodyPr wrap="square" lIns="0" tIns="0" rIns="0" bIns="0" rtlCol="0" anchor="t"/>
          <a:lstStyle/>
          <a:p>
            <a:pPr marL="0" indent="0">
              <a:buNone/>
            </a:pPr>
            <a:r>
              <a:rPr lang="en-US" sz="1200" dirty="0">
                <a:solidFill>
                  <a:srgbClr val="5B6178"/>
                </a:solidFill>
                <a:latin typeface="Calibri" pitchFamily="34" charset="0"/>
                <a:ea typeface="Calibri" pitchFamily="34" charset="-122"/>
                <a:cs typeface="Calibri" pitchFamily="34" charset="-120"/>
              </a:rPr>
              <a:t>Permite pedir el mismo campo dos veces con distintos argumentos, por ejemplo dos agendas en una llamada.</a:t>
            </a:r>
            <a:endParaRPr lang="en-US" sz="1200" dirty="0"/>
          </a:p>
        </p:txBody>
      </p:sp>
      <p:sp>
        <p:nvSpPr>
          <p:cNvPr id="21" name="Shape 15"/>
          <p:cNvSpPr/>
          <p:nvPr/>
        </p:nvSpPr>
        <p:spPr>
          <a:xfrm>
            <a:off x="457200" y="2834640"/>
            <a:ext cx="2560320" cy="1691640"/>
          </a:xfrm>
          <a:prstGeom prst="roundRect">
            <a:avLst>
              <a:gd name="adj" fmla="val 6486"/>
            </a:avLst>
          </a:prstGeom>
          <a:solidFill>
            <a:srgbClr val="F6EEF6"/>
          </a:solidFill>
          <a:ln w="9525">
            <a:solidFill>
              <a:srgbClr val="E3D6E3"/>
            </a:solidFill>
            <a:prstDash val="solid"/>
          </a:ln>
        </p:spPr>
        <p:txBody>
          <a:bodyPr/>
          <a:lstStyle/>
          <a:p>
            <a:endParaRPr lang="es-AR"/>
          </a:p>
        </p:txBody>
      </p:sp>
      <p:sp>
        <p:nvSpPr>
          <p:cNvPr id="22" name="Shape 16"/>
          <p:cNvSpPr/>
          <p:nvPr/>
        </p:nvSpPr>
        <p:spPr>
          <a:xfrm>
            <a:off x="640080" y="29718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23" name="Image 3" descr="preencoded.png"/>
          <p:cNvPicPr>
            <a:picLocks noChangeAspect="1"/>
          </p:cNvPicPr>
          <p:nvPr/>
        </p:nvPicPr>
        <p:blipFill>
          <a:blip r:embed="rId6"/>
          <a:stretch>
            <a:fillRect/>
          </a:stretch>
        </p:blipFill>
        <p:spPr>
          <a:xfrm>
            <a:off x="777240" y="3108960"/>
            <a:ext cx="274320" cy="274320"/>
          </a:xfrm>
          <a:prstGeom prst="rect">
            <a:avLst/>
          </a:prstGeom>
        </p:spPr>
      </p:pic>
      <p:sp>
        <p:nvSpPr>
          <p:cNvPr id="24" name="Text 17"/>
          <p:cNvSpPr txBox="1"/>
          <p:nvPr/>
        </p:nvSpPr>
        <p:spPr>
          <a:xfrm>
            <a:off x="1325880" y="2971800"/>
            <a:ext cx="1600200" cy="54864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Fragments</a:t>
            </a:r>
            <a:endParaRPr lang="en-US" sz="1600" dirty="0"/>
          </a:p>
        </p:txBody>
      </p:sp>
      <p:sp>
        <p:nvSpPr>
          <p:cNvPr id="25" name="Text 18"/>
          <p:cNvSpPr txBox="1"/>
          <p:nvPr/>
        </p:nvSpPr>
        <p:spPr>
          <a:xfrm>
            <a:off x="640080" y="3611880"/>
            <a:ext cx="2194560" cy="868680"/>
          </a:xfrm>
          <a:prstGeom prst="rect">
            <a:avLst/>
          </a:prstGeom>
          <a:noFill/>
          <a:ln/>
        </p:spPr>
        <p:txBody>
          <a:bodyPr wrap="square" lIns="0" tIns="0" rIns="0" bIns="0" rtlCol="0" anchor="t"/>
          <a:lstStyle/>
          <a:p>
            <a:pPr marL="0" indent="0">
              <a:buNone/>
            </a:pPr>
            <a:r>
              <a:rPr lang="en-US" sz="1200" dirty="0">
                <a:solidFill>
                  <a:srgbClr val="5B6178"/>
                </a:solidFill>
                <a:latin typeface="Calibri" pitchFamily="34" charset="0"/>
                <a:ea typeface="Calibri" pitchFamily="34" charset="-122"/>
                <a:cs typeface="Calibri" pitchFamily="34" charset="-120"/>
              </a:rPr>
              <a:t>Un grupo de campos que se escribe una sola vez y se reutiliza en varias partes de la consulta.</a:t>
            </a:r>
            <a:endParaRPr lang="en-US" sz="1200" dirty="0"/>
          </a:p>
        </p:txBody>
      </p:sp>
      <p:sp>
        <p:nvSpPr>
          <p:cNvPr id="26" name="Shape 19"/>
          <p:cNvSpPr/>
          <p:nvPr/>
        </p:nvSpPr>
        <p:spPr>
          <a:xfrm>
            <a:off x="3291840" y="2834640"/>
            <a:ext cx="2560320" cy="1691640"/>
          </a:xfrm>
          <a:prstGeom prst="roundRect">
            <a:avLst>
              <a:gd name="adj" fmla="val 6486"/>
            </a:avLst>
          </a:prstGeom>
          <a:solidFill>
            <a:srgbClr val="F6EEF6"/>
          </a:solidFill>
          <a:ln w="9525">
            <a:solidFill>
              <a:srgbClr val="E3D6E3"/>
            </a:solidFill>
            <a:prstDash val="solid"/>
          </a:ln>
        </p:spPr>
        <p:txBody>
          <a:bodyPr/>
          <a:lstStyle/>
          <a:p>
            <a:endParaRPr lang="es-AR"/>
          </a:p>
        </p:txBody>
      </p:sp>
      <p:sp>
        <p:nvSpPr>
          <p:cNvPr id="27" name="Shape 20"/>
          <p:cNvSpPr/>
          <p:nvPr/>
        </p:nvSpPr>
        <p:spPr>
          <a:xfrm>
            <a:off x="3474720" y="29718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28" name="Image 4" descr="preencoded.png"/>
          <p:cNvPicPr>
            <a:picLocks noChangeAspect="1"/>
          </p:cNvPicPr>
          <p:nvPr/>
        </p:nvPicPr>
        <p:blipFill>
          <a:blip r:embed="rId7"/>
          <a:stretch>
            <a:fillRect/>
          </a:stretch>
        </p:blipFill>
        <p:spPr>
          <a:xfrm>
            <a:off x="3611880" y="3108960"/>
            <a:ext cx="274320" cy="274320"/>
          </a:xfrm>
          <a:prstGeom prst="rect">
            <a:avLst/>
          </a:prstGeom>
        </p:spPr>
      </p:pic>
      <p:sp>
        <p:nvSpPr>
          <p:cNvPr id="29" name="Text 21"/>
          <p:cNvSpPr txBox="1"/>
          <p:nvPr/>
        </p:nvSpPr>
        <p:spPr>
          <a:xfrm>
            <a:off x="4160520" y="2971800"/>
            <a:ext cx="1600200" cy="54864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Errores tipados</a:t>
            </a:r>
            <a:endParaRPr lang="en-US" sz="1600" dirty="0"/>
          </a:p>
        </p:txBody>
      </p:sp>
      <p:sp>
        <p:nvSpPr>
          <p:cNvPr id="30" name="Text 22"/>
          <p:cNvSpPr txBox="1"/>
          <p:nvPr/>
        </p:nvSpPr>
        <p:spPr>
          <a:xfrm>
            <a:off x="3474720" y="3611880"/>
            <a:ext cx="2194560" cy="868680"/>
          </a:xfrm>
          <a:prstGeom prst="rect">
            <a:avLst/>
          </a:prstGeom>
          <a:noFill/>
          <a:ln/>
        </p:spPr>
        <p:txBody>
          <a:bodyPr wrap="square" lIns="0" tIns="0" rIns="0" bIns="0" rtlCol="0" anchor="t"/>
          <a:lstStyle/>
          <a:p>
            <a:pPr marL="0" indent="0">
              <a:buNone/>
            </a:pPr>
            <a:r>
              <a:rPr lang="en-US" sz="1200" dirty="0">
                <a:solidFill>
                  <a:srgbClr val="5B6178"/>
                </a:solidFill>
                <a:latin typeface="Calibri" pitchFamily="34" charset="0"/>
                <a:ea typeface="Calibri" pitchFamily="34" charset="-122"/>
                <a:cs typeface="Calibri" pitchFamily="34" charset="-120"/>
              </a:rPr>
              <a:t>Cada error trae un código (CONFLICT, NOT_FOUND) que el cliente puede interpretar.</a:t>
            </a:r>
            <a:endParaRPr lang="en-US" sz="1200" dirty="0"/>
          </a:p>
        </p:txBody>
      </p:sp>
      <p:sp>
        <p:nvSpPr>
          <p:cNvPr id="31" name="Shape 23"/>
          <p:cNvSpPr/>
          <p:nvPr/>
        </p:nvSpPr>
        <p:spPr>
          <a:xfrm>
            <a:off x="6126480" y="2834640"/>
            <a:ext cx="2560320" cy="1691640"/>
          </a:xfrm>
          <a:prstGeom prst="roundRect">
            <a:avLst>
              <a:gd name="adj" fmla="val 6486"/>
            </a:avLst>
          </a:prstGeom>
          <a:solidFill>
            <a:srgbClr val="F6EEF6"/>
          </a:solidFill>
          <a:ln w="9525">
            <a:solidFill>
              <a:srgbClr val="E3D6E3"/>
            </a:solidFill>
            <a:prstDash val="solid"/>
          </a:ln>
        </p:spPr>
        <p:txBody>
          <a:bodyPr/>
          <a:lstStyle/>
          <a:p>
            <a:endParaRPr lang="es-AR"/>
          </a:p>
        </p:txBody>
      </p:sp>
      <p:sp>
        <p:nvSpPr>
          <p:cNvPr id="32" name="Shape 24"/>
          <p:cNvSpPr/>
          <p:nvPr/>
        </p:nvSpPr>
        <p:spPr>
          <a:xfrm>
            <a:off x="6309360" y="29718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33" name="Image 5" descr="preencoded.png"/>
          <p:cNvPicPr>
            <a:picLocks noChangeAspect="1"/>
          </p:cNvPicPr>
          <p:nvPr/>
        </p:nvPicPr>
        <p:blipFill>
          <a:blip r:embed="rId8"/>
          <a:stretch>
            <a:fillRect/>
          </a:stretch>
        </p:blipFill>
        <p:spPr>
          <a:xfrm>
            <a:off x="6446520" y="3108960"/>
            <a:ext cx="274320" cy="274320"/>
          </a:xfrm>
          <a:prstGeom prst="rect">
            <a:avLst/>
          </a:prstGeom>
        </p:spPr>
      </p:pic>
      <p:sp>
        <p:nvSpPr>
          <p:cNvPr id="34" name="Text 25"/>
          <p:cNvSpPr txBox="1"/>
          <p:nvPr/>
        </p:nvSpPr>
        <p:spPr>
          <a:xfrm>
            <a:off x="6995160" y="2971800"/>
            <a:ext cx="1600200" cy="548640"/>
          </a:xfrm>
          <a:prstGeom prst="rect">
            <a:avLst/>
          </a:prstGeom>
          <a:noFill/>
          <a:ln/>
        </p:spPr>
        <p:txBody>
          <a:bodyPr wrap="square" lIns="0" tIns="0" rIns="0" bIns="0"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Suscripciones</a:t>
            </a:r>
            <a:endParaRPr lang="en-US" sz="1600" dirty="0"/>
          </a:p>
        </p:txBody>
      </p:sp>
      <p:sp>
        <p:nvSpPr>
          <p:cNvPr id="35" name="Text 26"/>
          <p:cNvSpPr txBox="1"/>
          <p:nvPr/>
        </p:nvSpPr>
        <p:spPr>
          <a:xfrm>
            <a:off x="6309360" y="3611880"/>
            <a:ext cx="2194560" cy="868680"/>
          </a:xfrm>
          <a:prstGeom prst="rect">
            <a:avLst/>
          </a:prstGeom>
          <a:noFill/>
          <a:ln/>
        </p:spPr>
        <p:txBody>
          <a:bodyPr wrap="square" lIns="0" tIns="0" rIns="0" bIns="0" rtlCol="0" anchor="t"/>
          <a:lstStyle/>
          <a:p>
            <a:pPr marL="0" indent="0">
              <a:buNone/>
            </a:pPr>
            <a:r>
              <a:rPr lang="en-US" sz="1200" dirty="0">
                <a:solidFill>
                  <a:srgbClr val="5B6178"/>
                </a:solidFill>
                <a:latin typeface="Calibri" pitchFamily="34" charset="0"/>
                <a:ea typeface="Calibri" pitchFamily="34" charset="-122"/>
                <a:cs typeface="Calibri" pitchFamily="34" charset="-120"/>
              </a:rPr>
              <a:t>El servidor avisa al cliente en vivo, por WebSocket, cuando se crea un turno.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Demo en vivo</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280160"/>
            <a:ext cx="1920240" cy="2468880"/>
          </a:xfrm>
          <a:prstGeom prst="roundRect">
            <a:avLst>
              <a:gd name="adj" fmla="val 5714"/>
            </a:avLst>
          </a:prstGeom>
          <a:solidFill>
            <a:srgbClr val="F6EEF6"/>
          </a:solidFill>
          <a:ln w="9525">
            <a:solidFill>
              <a:srgbClr val="E3D6E3"/>
            </a:solidFill>
            <a:prstDash val="solid"/>
          </a:ln>
        </p:spPr>
        <p:txBody>
          <a:bodyPr/>
          <a:lstStyle/>
          <a:p>
            <a:endParaRPr lang="es-AR"/>
          </a:p>
        </p:txBody>
      </p:sp>
      <p:sp>
        <p:nvSpPr>
          <p:cNvPr id="7" name="Shape 4"/>
          <p:cNvSpPr/>
          <p:nvPr/>
        </p:nvSpPr>
        <p:spPr>
          <a:xfrm>
            <a:off x="685800" y="15087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8" name="Image 0" descr="preencoded.png"/>
          <p:cNvPicPr>
            <a:picLocks noChangeAspect="1"/>
          </p:cNvPicPr>
          <p:nvPr/>
        </p:nvPicPr>
        <p:blipFill>
          <a:blip r:embed="rId3"/>
          <a:stretch>
            <a:fillRect/>
          </a:stretch>
        </p:blipFill>
        <p:spPr>
          <a:xfrm>
            <a:off x="822960" y="1645920"/>
            <a:ext cx="274320" cy="274320"/>
          </a:xfrm>
          <a:prstGeom prst="rect">
            <a:avLst/>
          </a:prstGeom>
        </p:spPr>
      </p:pic>
      <p:sp>
        <p:nvSpPr>
          <p:cNvPr id="9" name="Text 5"/>
          <p:cNvSpPr txBox="1"/>
          <p:nvPr/>
        </p:nvSpPr>
        <p:spPr>
          <a:xfrm>
            <a:off x="1828800" y="1508760"/>
            <a:ext cx="365760" cy="548640"/>
          </a:xfrm>
          <a:prstGeom prst="rect">
            <a:avLst/>
          </a:prstGeom>
          <a:noFill/>
          <a:ln/>
        </p:spPr>
        <p:txBody>
          <a:bodyPr wrap="square" lIns="0" tIns="0" rIns="0" bIns="0" rtlCol="0" anchor="ctr"/>
          <a:lstStyle/>
          <a:p>
            <a:pPr marL="0" indent="0" algn="r">
              <a:buNone/>
            </a:pPr>
            <a:r>
              <a:rPr lang="en-US" sz="2800" b="1" dirty="0">
                <a:solidFill>
                  <a:srgbClr val="E10098"/>
                </a:solidFill>
                <a:latin typeface="Cambria" pitchFamily="34" charset="0"/>
                <a:ea typeface="Cambria" pitchFamily="34" charset="-122"/>
                <a:cs typeface="Cambria" pitchFamily="34" charset="-120"/>
              </a:rPr>
              <a:t>1</a:t>
            </a:r>
            <a:endParaRPr lang="en-US" sz="2800" dirty="0"/>
          </a:p>
        </p:txBody>
      </p:sp>
      <p:sp>
        <p:nvSpPr>
          <p:cNvPr id="10" name="Text 6"/>
          <p:cNvSpPr txBox="1"/>
          <p:nvPr/>
        </p:nvSpPr>
        <p:spPr>
          <a:xfrm>
            <a:off x="685800" y="2240280"/>
            <a:ext cx="1554480" cy="365760"/>
          </a:xfrm>
          <a:prstGeom prst="rect">
            <a:avLst/>
          </a:prstGeom>
          <a:noFill/>
          <a:ln/>
        </p:spPr>
        <p:txBody>
          <a:bodyPr wrap="square" lIns="0" tIns="0" rIns="0" bIns="0"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GraphiQL</a:t>
            </a:r>
            <a:endParaRPr lang="en-US" sz="1700" dirty="0"/>
          </a:p>
        </p:txBody>
      </p:sp>
      <p:sp>
        <p:nvSpPr>
          <p:cNvPr id="11" name="Text 7"/>
          <p:cNvSpPr txBox="1"/>
          <p:nvPr/>
        </p:nvSpPr>
        <p:spPr>
          <a:xfrm>
            <a:off x="685800" y="2651760"/>
            <a:ext cx="1554480" cy="1005840"/>
          </a:xfrm>
          <a:prstGeom prst="rect">
            <a:avLst/>
          </a:prstGeom>
          <a:noFill/>
          <a:ln/>
        </p:spPr>
        <p:txBody>
          <a:bodyPr wrap="square" lIns="0" tIns="0" rIns="0" bIns="0" rtlCol="0" anchor="t"/>
          <a:lstStyle/>
          <a:p>
            <a:pPr marL="0" indent="0">
              <a:buNone/>
            </a:pPr>
            <a:r>
              <a:rPr lang="en-US" sz="1300" dirty="0">
                <a:solidFill>
                  <a:srgbClr val="5B6178"/>
                </a:solidFill>
                <a:latin typeface="Calibri" pitchFamily="34" charset="0"/>
                <a:ea typeface="Calibri" pitchFamily="34" charset="-122"/>
                <a:cs typeface="Calibri" pitchFamily="34" charset="-120"/>
              </a:rPr>
              <a:t>El schema se explica solo</a:t>
            </a:r>
            <a:endParaRPr lang="en-US" sz="1300" dirty="0"/>
          </a:p>
        </p:txBody>
      </p:sp>
      <p:sp>
        <p:nvSpPr>
          <p:cNvPr id="12" name="Shape 8"/>
          <p:cNvSpPr/>
          <p:nvPr/>
        </p:nvSpPr>
        <p:spPr>
          <a:xfrm>
            <a:off x="2560320" y="1280160"/>
            <a:ext cx="1920240" cy="2468880"/>
          </a:xfrm>
          <a:prstGeom prst="roundRect">
            <a:avLst>
              <a:gd name="adj" fmla="val 5714"/>
            </a:avLst>
          </a:prstGeom>
          <a:solidFill>
            <a:srgbClr val="F6EEF6"/>
          </a:solidFill>
          <a:ln w="9525">
            <a:solidFill>
              <a:srgbClr val="E3D6E3"/>
            </a:solidFill>
            <a:prstDash val="solid"/>
          </a:ln>
        </p:spPr>
        <p:txBody>
          <a:bodyPr/>
          <a:lstStyle/>
          <a:p>
            <a:endParaRPr lang="es-AR"/>
          </a:p>
        </p:txBody>
      </p:sp>
      <p:sp>
        <p:nvSpPr>
          <p:cNvPr id="13" name="Shape 9"/>
          <p:cNvSpPr/>
          <p:nvPr/>
        </p:nvSpPr>
        <p:spPr>
          <a:xfrm>
            <a:off x="2788920" y="15087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14" name="Image 1" descr="preencoded.png"/>
          <p:cNvPicPr>
            <a:picLocks noChangeAspect="1"/>
          </p:cNvPicPr>
          <p:nvPr/>
        </p:nvPicPr>
        <p:blipFill>
          <a:blip r:embed="rId4"/>
          <a:stretch>
            <a:fillRect/>
          </a:stretch>
        </p:blipFill>
        <p:spPr>
          <a:xfrm>
            <a:off x="2926080" y="1645920"/>
            <a:ext cx="274320" cy="274320"/>
          </a:xfrm>
          <a:prstGeom prst="rect">
            <a:avLst/>
          </a:prstGeom>
        </p:spPr>
      </p:pic>
      <p:sp>
        <p:nvSpPr>
          <p:cNvPr id="15" name="Text 10"/>
          <p:cNvSpPr txBox="1"/>
          <p:nvPr/>
        </p:nvSpPr>
        <p:spPr>
          <a:xfrm>
            <a:off x="3931920" y="1508760"/>
            <a:ext cx="365760" cy="548640"/>
          </a:xfrm>
          <a:prstGeom prst="rect">
            <a:avLst/>
          </a:prstGeom>
          <a:noFill/>
          <a:ln/>
        </p:spPr>
        <p:txBody>
          <a:bodyPr wrap="square" lIns="0" tIns="0" rIns="0" bIns="0" rtlCol="0" anchor="ctr"/>
          <a:lstStyle/>
          <a:p>
            <a:pPr marL="0" indent="0" algn="r">
              <a:buNone/>
            </a:pPr>
            <a:r>
              <a:rPr lang="en-US" sz="2800" b="1" dirty="0">
                <a:solidFill>
                  <a:srgbClr val="E10098"/>
                </a:solidFill>
                <a:latin typeface="Cambria" pitchFamily="34" charset="0"/>
                <a:ea typeface="Cambria" pitchFamily="34" charset="-122"/>
                <a:cs typeface="Cambria" pitchFamily="34" charset="-120"/>
              </a:rPr>
              <a:t>2</a:t>
            </a:r>
            <a:endParaRPr lang="en-US" sz="2800" dirty="0"/>
          </a:p>
        </p:txBody>
      </p:sp>
      <p:sp>
        <p:nvSpPr>
          <p:cNvPr id="16" name="Text 11"/>
          <p:cNvSpPr txBox="1"/>
          <p:nvPr/>
        </p:nvSpPr>
        <p:spPr>
          <a:xfrm>
            <a:off x="2788920" y="2240280"/>
            <a:ext cx="1554480" cy="365760"/>
          </a:xfrm>
          <a:prstGeom prst="rect">
            <a:avLst/>
          </a:prstGeom>
          <a:noFill/>
          <a:ln/>
        </p:spPr>
        <p:txBody>
          <a:bodyPr wrap="square" lIns="0" tIns="0" rIns="0" bIns="0"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Postman</a:t>
            </a:r>
            <a:endParaRPr lang="en-US" sz="1700" dirty="0"/>
          </a:p>
        </p:txBody>
      </p:sp>
      <p:sp>
        <p:nvSpPr>
          <p:cNvPr id="17" name="Text 12"/>
          <p:cNvSpPr txBox="1"/>
          <p:nvPr/>
        </p:nvSpPr>
        <p:spPr>
          <a:xfrm>
            <a:off x="2788920" y="2651760"/>
            <a:ext cx="1554480" cy="1005840"/>
          </a:xfrm>
          <a:prstGeom prst="rect">
            <a:avLst/>
          </a:prstGeom>
          <a:noFill/>
          <a:ln/>
        </p:spPr>
        <p:txBody>
          <a:bodyPr wrap="square" lIns="0" tIns="0" rIns="0" bIns="0" rtlCol="0" anchor="t"/>
          <a:lstStyle/>
          <a:p>
            <a:pPr marL="0" indent="0">
              <a:buNone/>
            </a:pPr>
            <a:r>
              <a:rPr lang="en-US" sz="1300" dirty="0">
                <a:solidFill>
                  <a:srgbClr val="5B6178"/>
                </a:solidFill>
                <a:latin typeface="Calibri" pitchFamily="34" charset="0"/>
                <a:ea typeface="Calibri" pitchFamily="34" charset="-122"/>
                <a:cs typeface="Calibri" pitchFamily="34" charset="-120"/>
              </a:rPr>
              <a:t>Campos, anidado, variables, alias y fragments</a:t>
            </a:r>
            <a:endParaRPr lang="en-US" sz="1300" dirty="0"/>
          </a:p>
        </p:txBody>
      </p:sp>
      <p:sp>
        <p:nvSpPr>
          <p:cNvPr id="18" name="Shape 13"/>
          <p:cNvSpPr/>
          <p:nvPr/>
        </p:nvSpPr>
        <p:spPr>
          <a:xfrm>
            <a:off x="4663440" y="1280160"/>
            <a:ext cx="1920240" cy="2468880"/>
          </a:xfrm>
          <a:prstGeom prst="roundRect">
            <a:avLst>
              <a:gd name="adj" fmla="val 5714"/>
            </a:avLst>
          </a:prstGeom>
          <a:solidFill>
            <a:srgbClr val="F6EEF6"/>
          </a:solidFill>
          <a:ln w="9525">
            <a:solidFill>
              <a:srgbClr val="E3D6E3"/>
            </a:solidFill>
            <a:prstDash val="solid"/>
          </a:ln>
        </p:spPr>
        <p:txBody>
          <a:bodyPr/>
          <a:lstStyle/>
          <a:p>
            <a:endParaRPr lang="es-AR"/>
          </a:p>
        </p:txBody>
      </p:sp>
      <p:sp>
        <p:nvSpPr>
          <p:cNvPr id="19" name="Shape 14"/>
          <p:cNvSpPr/>
          <p:nvPr/>
        </p:nvSpPr>
        <p:spPr>
          <a:xfrm>
            <a:off x="4892040" y="15087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20" name="Image 2" descr="preencoded.png"/>
          <p:cNvPicPr>
            <a:picLocks noChangeAspect="1"/>
          </p:cNvPicPr>
          <p:nvPr/>
        </p:nvPicPr>
        <p:blipFill>
          <a:blip r:embed="rId5"/>
          <a:stretch>
            <a:fillRect/>
          </a:stretch>
        </p:blipFill>
        <p:spPr>
          <a:xfrm>
            <a:off x="5029200" y="1645920"/>
            <a:ext cx="274320" cy="274320"/>
          </a:xfrm>
          <a:prstGeom prst="rect">
            <a:avLst/>
          </a:prstGeom>
        </p:spPr>
      </p:pic>
      <p:sp>
        <p:nvSpPr>
          <p:cNvPr id="21" name="Text 15"/>
          <p:cNvSpPr txBox="1"/>
          <p:nvPr/>
        </p:nvSpPr>
        <p:spPr>
          <a:xfrm>
            <a:off x="6035040" y="1508760"/>
            <a:ext cx="365760" cy="548640"/>
          </a:xfrm>
          <a:prstGeom prst="rect">
            <a:avLst/>
          </a:prstGeom>
          <a:noFill/>
          <a:ln/>
        </p:spPr>
        <p:txBody>
          <a:bodyPr wrap="square" lIns="0" tIns="0" rIns="0" bIns="0" rtlCol="0" anchor="ctr"/>
          <a:lstStyle/>
          <a:p>
            <a:pPr marL="0" indent="0" algn="r">
              <a:buNone/>
            </a:pPr>
            <a:r>
              <a:rPr lang="en-US" sz="2800" b="1" dirty="0">
                <a:solidFill>
                  <a:srgbClr val="E10098"/>
                </a:solidFill>
                <a:latin typeface="Cambria" pitchFamily="34" charset="0"/>
                <a:ea typeface="Cambria" pitchFamily="34" charset="-122"/>
                <a:cs typeface="Cambria" pitchFamily="34" charset="-120"/>
              </a:rPr>
              <a:t>3</a:t>
            </a:r>
            <a:endParaRPr lang="en-US" sz="2800" dirty="0"/>
          </a:p>
        </p:txBody>
      </p:sp>
      <p:sp>
        <p:nvSpPr>
          <p:cNvPr id="22" name="Text 16"/>
          <p:cNvSpPr txBox="1"/>
          <p:nvPr/>
        </p:nvSpPr>
        <p:spPr>
          <a:xfrm>
            <a:off x="4892040" y="2240280"/>
            <a:ext cx="1554480" cy="365760"/>
          </a:xfrm>
          <a:prstGeom prst="rect">
            <a:avLst/>
          </a:prstGeom>
          <a:noFill/>
          <a:ln/>
        </p:spPr>
        <p:txBody>
          <a:bodyPr wrap="square" lIns="0" tIns="0" rIns="0" bIns="0"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Mutation</a:t>
            </a:r>
            <a:endParaRPr lang="en-US" sz="1700" dirty="0"/>
          </a:p>
        </p:txBody>
      </p:sp>
      <p:sp>
        <p:nvSpPr>
          <p:cNvPr id="23" name="Text 17"/>
          <p:cNvSpPr txBox="1"/>
          <p:nvPr/>
        </p:nvSpPr>
        <p:spPr>
          <a:xfrm>
            <a:off x="4892040" y="2651760"/>
            <a:ext cx="1554480" cy="1005840"/>
          </a:xfrm>
          <a:prstGeom prst="rect">
            <a:avLst/>
          </a:prstGeom>
          <a:noFill/>
          <a:ln/>
        </p:spPr>
        <p:txBody>
          <a:bodyPr wrap="square" lIns="0" tIns="0" rIns="0" bIns="0" rtlCol="0" anchor="t"/>
          <a:lstStyle/>
          <a:p>
            <a:pPr marL="0" indent="0">
              <a:buNone/>
            </a:pPr>
            <a:r>
              <a:rPr lang="en-US" sz="1300" dirty="0">
                <a:solidFill>
                  <a:srgbClr val="5B6178"/>
                </a:solidFill>
                <a:latin typeface="Calibri" pitchFamily="34" charset="0"/>
                <a:ea typeface="Calibri" pitchFamily="34" charset="-122"/>
                <a:cs typeface="Calibri" pitchFamily="34" charset="-120"/>
              </a:rPr>
              <a:t>Crear un turno y provocar un CONFLICT</a:t>
            </a:r>
            <a:endParaRPr lang="en-US" sz="1300" dirty="0"/>
          </a:p>
        </p:txBody>
      </p:sp>
      <p:sp>
        <p:nvSpPr>
          <p:cNvPr id="24" name="Shape 18"/>
          <p:cNvSpPr/>
          <p:nvPr/>
        </p:nvSpPr>
        <p:spPr>
          <a:xfrm>
            <a:off x="6766560" y="1280160"/>
            <a:ext cx="1920240" cy="2468880"/>
          </a:xfrm>
          <a:prstGeom prst="roundRect">
            <a:avLst>
              <a:gd name="adj" fmla="val 5714"/>
            </a:avLst>
          </a:prstGeom>
          <a:solidFill>
            <a:srgbClr val="F6EEF6"/>
          </a:solidFill>
          <a:ln w="9525">
            <a:solidFill>
              <a:srgbClr val="E3D6E3"/>
            </a:solidFill>
            <a:prstDash val="solid"/>
          </a:ln>
        </p:spPr>
        <p:txBody>
          <a:bodyPr/>
          <a:lstStyle/>
          <a:p>
            <a:endParaRPr lang="es-AR"/>
          </a:p>
        </p:txBody>
      </p:sp>
      <p:sp>
        <p:nvSpPr>
          <p:cNvPr id="25" name="Shape 19"/>
          <p:cNvSpPr/>
          <p:nvPr/>
        </p:nvSpPr>
        <p:spPr>
          <a:xfrm>
            <a:off x="6995160" y="150876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26" name="Image 3" descr="preencoded.png"/>
          <p:cNvPicPr>
            <a:picLocks noChangeAspect="1"/>
          </p:cNvPicPr>
          <p:nvPr/>
        </p:nvPicPr>
        <p:blipFill>
          <a:blip r:embed="rId6"/>
          <a:stretch>
            <a:fillRect/>
          </a:stretch>
        </p:blipFill>
        <p:spPr>
          <a:xfrm>
            <a:off x="7132320" y="1645920"/>
            <a:ext cx="274320" cy="274320"/>
          </a:xfrm>
          <a:prstGeom prst="rect">
            <a:avLst/>
          </a:prstGeom>
        </p:spPr>
      </p:pic>
      <p:sp>
        <p:nvSpPr>
          <p:cNvPr id="27" name="Text 20"/>
          <p:cNvSpPr txBox="1"/>
          <p:nvPr/>
        </p:nvSpPr>
        <p:spPr>
          <a:xfrm>
            <a:off x="8138160" y="1508760"/>
            <a:ext cx="365760" cy="548640"/>
          </a:xfrm>
          <a:prstGeom prst="rect">
            <a:avLst/>
          </a:prstGeom>
          <a:noFill/>
          <a:ln/>
        </p:spPr>
        <p:txBody>
          <a:bodyPr wrap="square" lIns="0" tIns="0" rIns="0" bIns="0" rtlCol="0" anchor="ctr"/>
          <a:lstStyle/>
          <a:p>
            <a:pPr marL="0" indent="0" algn="r">
              <a:buNone/>
            </a:pPr>
            <a:r>
              <a:rPr lang="en-US" sz="2800" b="1" dirty="0">
                <a:solidFill>
                  <a:srgbClr val="E10098"/>
                </a:solidFill>
                <a:latin typeface="Cambria" pitchFamily="34" charset="0"/>
                <a:ea typeface="Cambria" pitchFamily="34" charset="-122"/>
                <a:cs typeface="Cambria" pitchFamily="34" charset="-120"/>
              </a:rPr>
              <a:t>4</a:t>
            </a:r>
            <a:endParaRPr lang="en-US" sz="2800" dirty="0"/>
          </a:p>
        </p:txBody>
      </p:sp>
      <p:sp>
        <p:nvSpPr>
          <p:cNvPr id="28" name="Text 21"/>
          <p:cNvSpPr txBox="1"/>
          <p:nvPr/>
        </p:nvSpPr>
        <p:spPr>
          <a:xfrm>
            <a:off x="6995160" y="2240280"/>
            <a:ext cx="1554480" cy="365760"/>
          </a:xfrm>
          <a:prstGeom prst="rect">
            <a:avLst/>
          </a:prstGeom>
          <a:noFill/>
          <a:ln/>
        </p:spPr>
        <p:txBody>
          <a:bodyPr wrap="square" lIns="0" tIns="0" rIns="0" bIns="0"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Suscripción</a:t>
            </a:r>
            <a:endParaRPr lang="en-US" sz="1700" dirty="0"/>
          </a:p>
        </p:txBody>
      </p:sp>
      <p:sp>
        <p:nvSpPr>
          <p:cNvPr id="29" name="Text 22"/>
          <p:cNvSpPr txBox="1"/>
          <p:nvPr/>
        </p:nvSpPr>
        <p:spPr>
          <a:xfrm>
            <a:off x="6995160" y="2651760"/>
            <a:ext cx="1554480" cy="1005840"/>
          </a:xfrm>
          <a:prstGeom prst="rect">
            <a:avLst/>
          </a:prstGeom>
          <a:noFill/>
          <a:ln/>
        </p:spPr>
        <p:txBody>
          <a:bodyPr wrap="square" lIns="0" tIns="0" rIns="0" bIns="0" rtlCol="0" anchor="t"/>
          <a:lstStyle/>
          <a:p>
            <a:pPr marL="0" indent="0">
              <a:buNone/>
            </a:pPr>
            <a:r>
              <a:rPr lang="en-US" sz="1300" dirty="0">
                <a:solidFill>
                  <a:srgbClr val="5B6178"/>
                </a:solidFill>
                <a:latin typeface="Calibri" pitchFamily="34" charset="0"/>
                <a:ea typeface="Calibri" pitchFamily="34" charset="-122"/>
                <a:cs typeface="Calibri" pitchFamily="34" charset="-120"/>
              </a:rPr>
              <a:t>El turno nuevo llega en vivo</a:t>
            </a:r>
            <a:endParaRPr lang="en-US" sz="1300" dirty="0"/>
          </a:p>
        </p:txBody>
      </p:sp>
      <p:sp>
        <p:nvSpPr>
          <p:cNvPr id="30" name="Text 23"/>
          <p:cNvSpPr txBox="1"/>
          <p:nvPr/>
        </p:nvSpPr>
        <p:spPr>
          <a:xfrm>
            <a:off x="457200" y="4023360"/>
            <a:ext cx="8229600" cy="274320"/>
          </a:xfrm>
          <a:prstGeom prst="rect">
            <a:avLst/>
          </a:prstGeom>
          <a:noFill/>
          <a:ln/>
        </p:spPr>
        <p:txBody>
          <a:bodyPr wrap="square" lIns="0" tIns="0" rIns="0" bIns="0" rtlCol="0" anchor="ctr"/>
          <a:lstStyle/>
          <a:p>
            <a:pPr marL="0" indent="0">
              <a:buNone/>
            </a:pPr>
            <a:r>
              <a:rPr lang="en-US" sz="1300" dirty="0">
                <a:solidFill>
                  <a:srgbClr val="5B6178"/>
                </a:solidFill>
                <a:latin typeface="Calibri" pitchFamily="34" charset="0"/>
                <a:ea typeface="Calibri" pitchFamily="34" charset="-122"/>
                <a:cs typeface="Calibri" pitchFamily="34" charset="-120"/>
              </a:rPr>
              <a:t>Node.js · Fastify · Mercurius · datos de ejemplo en memoria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El problema N+1</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7</a:t>
            </a:r>
            <a:endParaRPr lang="en-US" sz="900" dirty="0"/>
          </a:p>
        </p:txBody>
      </p:sp>
      <p:sp>
        <p:nvSpPr>
          <p:cNvPr id="6" name="Text 3"/>
          <p:cNvSpPr txBox="1"/>
          <p:nvPr/>
        </p:nvSpPr>
        <p:spPr>
          <a:xfrm>
            <a:off x="457200" y="1051560"/>
            <a:ext cx="8229600" cy="640080"/>
          </a:xfrm>
          <a:prstGeom prst="rect">
            <a:avLst/>
          </a:prstGeom>
          <a:noFill/>
          <a:ln/>
        </p:spPr>
        <p:txBody>
          <a:bodyPr wrap="square" lIns="0" tIns="0" rIns="0" bIns="0" rtlCol="0" anchor="ctr"/>
          <a:lstStyle/>
          <a:p>
            <a:pPr marL="0" indent="0">
              <a:buNone/>
            </a:pPr>
            <a:r>
              <a:rPr lang="en-US" sz="1600" dirty="0">
                <a:solidFill>
                  <a:srgbClr val="1B1F3B"/>
                </a:solidFill>
                <a:latin typeface="Calibri" pitchFamily="34" charset="0"/>
                <a:ea typeface="Calibri" pitchFamily="34" charset="-122"/>
                <a:cs typeface="Calibri" pitchFamily="34" charset="-120"/>
              </a:rPr>
              <a:t>Al pedir 10 turnos con su paciente y su profesional, GraphQL resuelve cada campo por separado: puede hacer una consulta por fila.</a:t>
            </a:r>
            <a:endParaRPr lang="en-US" sz="1600" dirty="0"/>
          </a:p>
        </p:txBody>
      </p:sp>
      <p:sp>
        <p:nvSpPr>
          <p:cNvPr id="7" name="Shape 4"/>
          <p:cNvSpPr/>
          <p:nvPr/>
        </p:nvSpPr>
        <p:spPr>
          <a:xfrm>
            <a:off x="457200" y="1874520"/>
            <a:ext cx="3931920" cy="1737360"/>
          </a:xfrm>
          <a:prstGeom prst="roundRect">
            <a:avLst>
              <a:gd name="adj" fmla="val 6316"/>
            </a:avLst>
          </a:prstGeom>
          <a:solidFill>
            <a:srgbClr val="F6EEF6"/>
          </a:solidFill>
          <a:ln w="9525">
            <a:solidFill>
              <a:srgbClr val="E3D6E3"/>
            </a:solidFill>
            <a:prstDash val="solid"/>
          </a:ln>
        </p:spPr>
        <p:txBody>
          <a:bodyPr/>
          <a:lstStyle/>
          <a:p>
            <a:endParaRPr lang="es-AR"/>
          </a:p>
        </p:txBody>
      </p:sp>
      <p:sp>
        <p:nvSpPr>
          <p:cNvPr id="8" name="Text 5"/>
          <p:cNvSpPr txBox="1"/>
          <p:nvPr/>
        </p:nvSpPr>
        <p:spPr>
          <a:xfrm>
            <a:off x="640080" y="1965960"/>
            <a:ext cx="1737360" cy="1005840"/>
          </a:xfrm>
          <a:prstGeom prst="rect">
            <a:avLst/>
          </a:prstGeom>
          <a:noFill/>
          <a:ln/>
        </p:spPr>
        <p:txBody>
          <a:bodyPr wrap="square" lIns="0" tIns="0" rIns="0" bIns="0" rtlCol="0" anchor="ctr"/>
          <a:lstStyle/>
          <a:p>
            <a:pPr marL="0" indent="0">
              <a:buNone/>
            </a:pPr>
            <a:r>
              <a:rPr lang="en-US" sz="6600" b="1" dirty="0">
                <a:solidFill>
                  <a:srgbClr val="5B6178"/>
                </a:solidFill>
                <a:latin typeface="Cambria" pitchFamily="34" charset="0"/>
                <a:ea typeface="Cambria" pitchFamily="34" charset="-122"/>
                <a:cs typeface="Cambria" pitchFamily="34" charset="-120"/>
              </a:rPr>
              <a:t>21</a:t>
            </a:r>
            <a:endParaRPr lang="en-US" sz="6600" dirty="0"/>
          </a:p>
        </p:txBody>
      </p:sp>
      <p:sp>
        <p:nvSpPr>
          <p:cNvPr id="9" name="Text 6"/>
          <p:cNvSpPr txBox="1"/>
          <p:nvPr/>
        </p:nvSpPr>
        <p:spPr>
          <a:xfrm>
            <a:off x="1828800" y="2194560"/>
            <a:ext cx="1920240" cy="365760"/>
          </a:xfrm>
          <a:prstGeom prst="rect">
            <a:avLst/>
          </a:prstGeom>
          <a:noFill/>
          <a:ln/>
        </p:spPr>
        <p:txBody>
          <a:bodyPr wrap="square" lIns="0" tIns="0" rIns="0" bIns="0" rtlCol="0" anchor="ctr"/>
          <a:lstStyle/>
          <a:p>
            <a:pPr marL="0" indent="0">
              <a:buNone/>
            </a:pPr>
            <a:r>
              <a:rPr lang="en-US" sz="1600" dirty="0">
                <a:solidFill>
                  <a:srgbClr val="1B1F3B"/>
                </a:solidFill>
                <a:latin typeface="Calibri" pitchFamily="34" charset="0"/>
                <a:ea typeface="Calibri" pitchFamily="34" charset="-122"/>
                <a:cs typeface="Calibri" pitchFamily="34" charset="-120"/>
              </a:rPr>
              <a:t>accesos a datos</a:t>
            </a:r>
            <a:endParaRPr lang="en-US" sz="1600" dirty="0"/>
          </a:p>
        </p:txBody>
      </p:sp>
      <p:sp>
        <p:nvSpPr>
          <p:cNvPr id="10" name="Text 7"/>
          <p:cNvSpPr txBox="1"/>
          <p:nvPr/>
        </p:nvSpPr>
        <p:spPr>
          <a:xfrm>
            <a:off x="640080" y="3063240"/>
            <a:ext cx="3566160" cy="365760"/>
          </a:xfrm>
          <a:prstGeom prst="rect">
            <a:avLst/>
          </a:prstGeom>
          <a:noFill/>
          <a:ln/>
        </p:spPr>
        <p:txBody>
          <a:bodyPr wrap="square" lIns="0" tIns="0" rIns="0" bIns="0" rtlCol="0" anchor="ctr"/>
          <a:lstStyle/>
          <a:p>
            <a:pPr marL="0" indent="0">
              <a:buNone/>
            </a:pPr>
            <a:r>
              <a:rPr lang="en-US" sz="1400" dirty="0">
                <a:solidFill>
                  <a:srgbClr val="5B6178"/>
                </a:solidFill>
                <a:latin typeface="Calibri" pitchFamily="34" charset="0"/>
                <a:ea typeface="Calibri" pitchFamily="34" charset="-122"/>
                <a:cs typeface="Calibri" pitchFamily="34" charset="-120"/>
              </a:rPr>
              <a:t>Sin DataLoader: 1 + 10 + 10</a:t>
            </a:r>
            <a:endParaRPr lang="en-US" sz="1400" dirty="0"/>
          </a:p>
        </p:txBody>
      </p:sp>
      <p:sp>
        <p:nvSpPr>
          <p:cNvPr id="11" name="Shape 8"/>
          <p:cNvSpPr/>
          <p:nvPr/>
        </p:nvSpPr>
        <p:spPr>
          <a:xfrm>
            <a:off x="4754880" y="1874520"/>
            <a:ext cx="3931920" cy="1737360"/>
          </a:xfrm>
          <a:prstGeom prst="roundRect">
            <a:avLst>
              <a:gd name="adj" fmla="val 6316"/>
            </a:avLst>
          </a:prstGeom>
          <a:solidFill>
            <a:srgbClr val="F6EEF6"/>
          </a:solidFill>
          <a:ln w="9525">
            <a:solidFill>
              <a:srgbClr val="E3D6E3"/>
            </a:solidFill>
            <a:prstDash val="solid"/>
          </a:ln>
        </p:spPr>
        <p:txBody>
          <a:bodyPr/>
          <a:lstStyle/>
          <a:p>
            <a:endParaRPr lang="es-AR"/>
          </a:p>
        </p:txBody>
      </p:sp>
      <p:sp>
        <p:nvSpPr>
          <p:cNvPr id="12" name="Text 9"/>
          <p:cNvSpPr txBox="1"/>
          <p:nvPr/>
        </p:nvSpPr>
        <p:spPr>
          <a:xfrm>
            <a:off x="4937760" y="1965960"/>
            <a:ext cx="1737360" cy="1005840"/>
          </a:xfrm>
          <a:prstGeom prst="rect">
            <a:avLst/>
          </a:prstGeom>
          <a:noFill/>
          <a:ln/>
        </p:spPr>
        <p:txBody>
          <a:bodyPr wrap="square" lIns="0" tIns="0" rIns="0" bIns="0" rtlCol="0" anchor="ctr"/>
          <a:lstStyle/>
          <a:p>
            <a:pPr marL="0" indent="0">
              <a:buNone/>
            </a:pPr>
            <a:r>
              <a:rPr lang="en-US" sz="6600" b="1" dirty="0">
                <a:solidFill>
                  <a:srgbClr val="E10098"/>
                </a:solidFill>
                <a:latin typeface="Cambria" pitchFamily="34" charset="0"/>
                <a:ea typeface="Cambria" pitchFamily="34" charset="-122"/>
                <a:cs typeface="Cambria" pitchFamily="34" charset="-120"/>
              </a:rPr>
              <a:t>3</a:t>
            </a:r>
            <a:endParaRPr lang="en-US" sz="6600" dirty="0"/>
          </a:p>
        </p:txBody>
      </p:sp>
      <p:sp>
        <p:nvSpPr>
          <p:cNvPr id="13" name="Text 10"/>
          <p:cNvSpPr txBox="1"/>
          <p:nvPr/>
        </p:nvSpPr>
        <p:spPr>
          <a:xfrm>
            <a:off x="5669280" y="2194560"/>
            <a:ext cx="1920240" cy="365760"/>
          </a:xfrm>
          <a:prstGeom prst="rect">
            <a:avLst/>
          </a:prstGeom>
          <a:noFill/>
          <a:ln/>
        </p:spPr>
        <p:txBody>
          <a:bodyPr wrap="square" lIns="0" tIns="0" rIns="0" bIns="0" rtlCol="0" anchor="ctr"/>
          <a:lstStyle/>
          <a:p>
            <a:pPr marL="0" indent="0">
              <a:buNone/>
            </a:pPr>
            <a:r>
              <a:rPr lang="en-US" sz="1600" dirty="0">
                <a:solidFill>
                  <a:srgbClr val="1B1F3B"/>
                </a:solidFill>
                <a:latin typeface="Calibri" pitchFamily="34" charset="0"/>
                <a:ea typeface="Calibri" pitchFamily="34" charset="-122"/>
                <a:cs typeface="Calibri" pitchFamily="34" charset="-120"/>
              </a:rPr>
              <a:t>accesos a datos</a:t>
            </a:r>
            <a:endParaRPr lang="en-US" sz="1600" dirty="0"/>
          </a:p>
        </p:txBody>
      </p:sp>
      <p:sp>
        <p:nvSpPr>
          <p:cNvPr id="14" name="Text 11"/>
          <p:cNvSpPr txBox="1"/>
          <p:nvPr/>
        </p:nvSpPr>
        <p:spPr>
          <a:xfrm>
            <a:off x="4937760" y="3063240"/>
            <a:ext cx="3566160" cy="365760"/>
          </a:xfrm>
          <a:prstGeom prst="rect">
            <a:avLst/>
          </a:prstGeom>
          <a:noFill/>
          <a:ln/>
        </p:spPr>
        <p:txBody>
          <a:bodyPr wrap="square" lIns="0" tIns="0" rIns="0" bIns="0" rtlCol="0" anchor="ctr"/>
          <a:lstStyle/>
          <a:p>
            <a:pPr marL="0" indent="0">
              <a:buNone/>
            </a:pPr>
            <a:r>
              <a:rPr lang="en-US" sz="1400" dirty="0">
                <a:solidFill>
                  <a:srgbClr val="5B6178"/>
                </a:solidFill>
                <a:latin typeface="Calibri" pitchFamily="34" charset="0"/>
                <a:ea typeface="Calibri" pitchFamily="34" charset="-122"/>
                <a:cs typeface="Calibri" pitchFamily="34" charset="-120"/>
              </a:rPr>
              <a:t>Con DataLoader: 1 por tabla</a:t>
            </a:r>
            <a:endParaRPr lang="en-US" sz="1400" dirty="0"/>
          </a:p>
        </p:txBody>
      </p:sp>
      <p:sp>
        <p:nvSpPr>
          <p:cNvPr id="15" name="Shape 12"/>
          <p:cNvSpPr/>
          <p:nvPr/>
        </p:nvSpPr>
        <p:spPr>
          <a:xfrm>
            <a:off x="457200" y="3794760"/>
            <a:ext cx="3931920" cy="548640"/>
          </a:xfrm>
          <a:prstGeom prst="roundRect">
            <a:avLst>
              <a:gd name="adj" fmla="val 13333"/>
            </a:avLst>
          </a:prstGeom>
          <a:solidFill>
            <a:srgbClr val="FFFFFF"/>
          </a:solidFill>
          <a:ln w="12700">
            <a:solidFill>
              <a:srgbClr val="E3D6E3"/>
            </a:solidFill>
            <a:prstDash val="solid"/>
          </a:ln>
        </p:spPr>
        <p:txBody>
          <a:bodyPr/>
          <a:lstStyle/>
          <a:p>
            <a:endParaRPr lang="es-AR"/>
          </a:p>
        </p:txBody>
      </p:sp>
      <p:sp>
        <p:nvSpPr>
          <p:cNvPr id="16" name="Text 13"/>
          <p:cNvSpPr txBox="1"/>
          <p:nvPr/>
        </p:nvSpPr>
        <p:spPr>
          <a:xfrm>
            <a:off x="594360" y="3886200"/>
            <a:ext cx="3657600" cy="365760"/>
          </a:xfrm>
          <a:prstGeom prst="rect">
            <a:avLst/>
          </a:prstGeom>
          <a:noFill/>
          <a:ln/>
        </p:spPr>
        <p:txBody>
          <a:bodyPr wrap="square" lIns="0" tIns="0" rIns="0" bIns="0" rtlCol="0" anchor="t"/>
          <a:lstStyle/>
          <a:p>
            <a:pPr marL="0" indent="0">
              <a:buNone/>
            </a:pPr>
            <a:r>
              <a:rPr lang="en-US" sz="1200" dirty="0">
                <a:solidFill>
                  <a:srgbClr val="1B1F3B"/>
                </a:solidFill>
                <a:latin typeface="Courier New" pitchFamily="34" charset="0"/>
                <a:ea typeface="Courier New" pitchFamily="34" charset="-122"/>
                <a:cs typeface="Courier New" pitchFamily="34" charset="-120"/>
              </a:rPr>
              <a:t>WHERE id = 'pac-1'   (x 10 veces)</a:t>
            </a:r>
            <a:endParaRPr lang="en-US" sz="1200" dirty="0"/>
          </a:p>
        </p:txBody>
      </p:sp>
      <p:sp>
        <p:nvSpPr>
          <p:cNvPr id="17" name="Shape 14"/>
          <p:cNvSpPr/>
          <p:nvPr/>
        </p:nvSpPr>
        <p:spPr>
          <a:xfrm>
            <a:off x="4754880" y="3794760"/>
            <a:ext cx="3931920" cy="548640"/>
          </a:xfrm>
          <a:prstGeom prst="roundRect">
            <a:avLst>
              <a:gd name="adj" fmla="val 13333"/>
            </a:avLst>
          </a:prstGeom>
          <a:solidFill>
            <a:srgbClr val="FFFFFF"/>
          </a:solidFill>
          <a:ln w="12700">
            <a:solidFill>
              <a:srgbClr val="E3D6E3"/>
            </a:solidFill>
            <a:prstDash val="solid"/>
          </a:ln>
        </p:spPr>
        <p:txBody>
          <a:bodyPr/>
          <a:lstStyle/>
          <a:p>
            <a:endParaRPr lang="es-AR"/>
          </a:p>
        </p:txBody>
      </p:sp>
      <p:sp>
        <p:nvSpPr>
          <p:cNvPr id="18" name="Text 15"/>
          <p:cNvSpPr txBox="1"/>
          <p:nvPr/>
        </p:nvSpPr>
        <p:spPr>
          <a:xfrm>
            <a:off x="4892040" y="3886200"/>
            <a:ext cx="3657600" cy="365760"/>
          </a:xfrm>
          <a:prstGeom prst="rect">
            <a:avLst/>
          </a:prstGeom>
          <a:noFill/>
          <a:ln/>
        </p:spPr>
        <p:txBody>
          <a:bodyPr wrap="square" lIns="0" tIns="0" rIns="0" bIns="0" rtlCol="0" anchor="t"/>
          <a:lstStyle/>
          <a:p>
            <a:pPr marL="0" indent="0">
              <a:buNone/>
            </a:pPr>
            <a:r>
              <a:rPr lang="en-US" sz="1200" dirty="0">
                <a:solidFill>
                  <a:srgbClr val="1B1F3B"/>
                </a:solidFill>
                <a:latin typeface="Courier New" pitchFamily="34" charset="0"/>
                <a:ea typeface="Courier New" pitchFamily="34" charset="-122"/>
                <a:cs typeface="Courier New" pitchFamily="34" charset="-120"/>
              </a:rPr>
              <a:t>WHERE id IN (...)   (x 1 vez)</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GraphQL frente a REST</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8</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032760"/>
        </p:xfrm>
        <a:graphic>
          <a:graphicData uri="http://schemas.openxmlformats.org/drawingml/2006/table">
            <a:tbl>
              <a:tblPr/>
              <a:tblGrid>
                <a:gridCol w="2926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11480">
                <a:tc>
                  <a:txBody>
                    <a:bodyPr/>
                    <a:lstStyle/>
                    <a:p>
                      <a:pPr marL="0" indent="0">
                        <a:buNone/>
                      </a:pPr>
                      <a:endParaRPr lang="en-US" sz="1500" dirty="0">
                        <a:latin typeface="Cambria" charset="0"/>
                        <a:ea typeface="Cambria" charset="0"/>
                        <a:cs typeface="Cambria"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solidFill>
                      <a:srgbClr val="E10098"/>
                    </a:solidFill>
                  </a:tcPr>
                </a:tc>
                <a:tc>
                  <a:txBody>
                    <a:bodyPr/>
                    <a:lstStyle/>
                    <a:p>
                      <a:pPr marL="0" indent="0">
                        <a:buNone/>
                      </a:pPr>
                      <a:r>
                        <a:rPr lang="en-US" sz="1500" b="1" dirty="0">
                          <a:solidFill>
                            <a:srgbClr val="FFFFFF"/>
                          </a:solidFill>
                          <a:latin typeface="Cambria" pitchFamily="34" charset="0"/>
                          <a:ea typeface="Cambria" pitchFamily="34" charset="-122"/>
                          <a:cs typeface="Cambria" pitchFamily="34" charset="-120"/>
                        </a:rPr>
                        <a:t>REST</a:t>
                      </a:r>
                      <a:endParaRPr lang="en-US" sz="1500" dirty="0">
                        <a:latin typeface="Cambria" charset="0"/>
                        <a:ea typeface="Cambria" charset="0"/>
                        <a:cs typeface="Cambria"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solidFill>
                      <a:srgbClr val="E10098"/>
                    </a:solidFill>
                  </a:tcPr>
                </a:tc>
                <a:tc>
                  <a:txBody>
                    <a:bodyPr/>
                    <a:lstStyle/>
                    <a:p>
                      <a:pPr marL="0" indent="0">
                        <a:buNone/>
                      </a:pPr>
                      <a:r>
                        <a:rPr lang="en-US" sz="1500" b="1" dirty="0">
                          <a:solidFill>
                            <a:srgbClr val="FFFFFF"/>
                          </a:solidFill>
                          <a:latin typeface="Cambria" pitchFamily="34" charset="0"/>
                          <a:ea typeface="Cambria" pitchFamily="34" charset="-122"/>
                          <a:cs typeface="Cambria" pitchFamily="34" charset="-120"/>
                        </a:rPr>
                        <a:t>GraphQL</a:t>
                      </a:r>
                      <a:endParaRPr lang="en-US" sz="1500" dirty="0">
                        <a:latin typeface="Cambria" charset="0"/>
                        <a:ea typeface="Cambria" charset="0"/>
                        <a:cs typeface="Cambria"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solidFill>
                      <a:srgbClr val="E10098"/>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1B1F3B"/>
                          </a:solidFill>
                          <a:latin typeface="Calibri" pitchFamily="34" charset="0"/>
                          <a:ea typeface="Calibri" pitchFamily="34" charset="-122"/>
                          <a:cs typeface="Calibri" pitchFamily="34" charset="-120"/>
                        </a:rPr>
                        <a:t>Llamadas: turno + paciente + profesional</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1B1F3B"/>
                          </a:solidFill>
                          <a:latin typeface="Calibri" pitchFamily="34" charset="0"/>
                          <a:ea typeface="Calibri" pitchFamily="34" charset="-122"/>
                          <a:cs typeface="Calibri" pitchFamily="34" charset="-120"/>
                        </a:rPr>
                        <a:t>Datos de más</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El paciente trae email, teléfono y obra social</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Ninguno: se piden los campos</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B1F3B"/>
                          </a:solidFill>
                          <a:latin typeface="Calibri" pitchFamily="34" charset="0"/>
                          <a:ea typeface="Calibri" pitchFamily="34" charset="-122"/>
                          <a:cs typeface="Calibri" pitchFamily="34" charset="-120"/>
                        </a:rPr>
                        <a:t>Contrato</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Documentación aparte</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Schema tipado y explorable</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1B1F3B"/>
                          </a:solidFill>
                          <a:latin typeface="Calibri" pitchFamily="34" charset="0"/>
                          <a:ea typeface="Calibri" pitchFamily="34" charset="-122"/>
                          <a:cs typeface="Calibri" pitchFamily="34" charset="-120"/>
                        </a:rPr>
                        <a:t>Errores</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Códigos HTTP (404, 409)</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200 con "errors" y un código</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1B1F3B"/>
                          </a:solidFill>
                          <a:latin typeface="Calibri" pitchFamily="34" charset="0"/>
                          <a:ea typeface="Calibri" pitchFamily="34" charset="-122"/>
                          <a:cs typeface="Calibri" pitchFamily="34" charset="-120"/>
                        </a:rPr>
                        <a:t>Caché</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Caché HTTP por URL</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tc>
                  <a:txBody>
                    <a:bodyPr/>
                    <a:lstStyle/>
                    <a:p>
                      <a:pPr marL="0" indent="0">
                        <a:buNone/>
                      </a:pPr>
                      <a:r>
                        <a:rPr lang="en-US" sz="1400" dirty="0">
                          <a:solidFill>
                            <a:srgbClr val="5B6178"/>
                          </a:solidFill>
                          <a:latin typeface="Calibri" pitchFamily="34" charset="0"/>
                          <a:ea typeface="Calibri" pitchFamily="34" charset="-122"/>
                          <a:cs typeface="Calibri" pitchFamily="34" charset="-120"/>
                        </a:rPr>
                        <a:t>Requiere más trabajo</a:t>
                      </a:r>
                      <a:endParaRPr lang="en-US" sz="1400" dirty="0">
                        <a:latin typeface="Calibri" charset="0"/>
                        <a:ea typeface="Calibri" charset="0"/>
                        <a:cs typeface="Calibri" charset="0"/>
                      </a:endParaRPr>
                    </a:p>
                  </a:txBody>
                  <a:tcPr marL="109728" marR="109728" anchor="ctr">
                    <a:lnL w="9525" cap="flat" cmpd="sng" algn="ctr">
                      <a:solidFill>
                        <a:srgbClr val="E3D6E3"/>
                      </a:solidFill>
                      <a:prstDash val="solid"/>
                      <a:round/>
                      <a:headEnd type="none" w="med" len="med"/>
                      <a:tailEnd type="none" w="med" len="med"/>
                    </a:lnL>
                    <a:lnR w="9525" cap="flat" cmpd="sng" algn="ctr">
                      <a:solidFill>
                        <a:srgbClr val="E3D6E3"/>
                      </a:solidFill>
                      <a:prstDash val="solid"/>
                      <a:round/>
                      <a:headEnd type="none" w="med" len="med"/>
                      <a:tailEnd type="none" w="med" len="med"/>
                    </a:lnR>
                    <a:lnT w="9525" cap="flat" cmpd="sng" algn="ctr">
                      <a:solidFill>
                        <a:srgbClr val="E3D6E3"/>
                      </a:solidFill>
                      <a:prstDash val="solid"/>
                      <a:round/>
                      <a:headEnd type="none" w="med" len="med"/>
                      <a:tailEnd type="none" w="med" len="med"/>
                    </a:lnT>
                    <a:lnB w="9525" cap="flat" cmpd="sng" algn="ctr">
                      <a:solidFill>
                        <a:srgbClr val="E3D6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¿Cuándo usar cada uno?</a:t>
            </a:r>
            <a:endParaRPr lang="en-US" sz="32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marL="0" indent="0">
              <a:buNone/>
            </a:pPr>
            <a:r>
              <a:rPr lang="en-US" sz="900" dirty="0">
                <a:solidFill>
                  <a:srgbClr val="5B6178"/>
                </a:solidFill>
                <a:latin typeface="Calibri" pitchFamily="34" charset="0"/>
                <a:ea typeface="Calibri" pitchFamily="34" charset="-122"/>
                <a:cs typeface="Calibri" pitchFamily="34" charset="-120"/>
              </a:rPr>
              <a:t>GraphQL y REST · Gamba y Milanesi · 2026</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n-US" sz="900" dirty="0">
                <a:solidFill>
                  <a:srgbClr val="5B6178"/>
                </a:solidFill>
                <a:latin typeface="Calibri" pitchFamily="34" charset="0"/>
                <a:ea typeface="Calibri" pitchFamily="34" charset="-122"/>
                <a:cs typeface="Calibri" pitchFamily="34" charset="-120"/>
              </a:rPr>
              <a:t>9</a:t>
            </a:r>
            <a:endParaRPr lang="en-US" sz="900" dirty="0"/>
          </a:p>
        </p:txBody>
      </p:sp>
      <p:sp>
        <p:nvSpPr>
          <p:cNvPr id="6" name="Shape 3"/>
          <p:cNvSpPr/>
          <p:nvPr/>
        </p:nvSpPr>
        <p:spPr>
          <a:xfrm>
            <a:off x="457200" y="1005840"/>
            <a:ext cx="4023360" cy="2788920"/>
          </a:xfrm>
          <a:prstGeom prst="roundRect">
            <a:avLst>
              <a:gd name="adj" fmla="val 3934"/>
            </a:avLst>
          </a:prstGeom>
          <a:solidFill>
            <a:srgbClr val="F6EEF6"/>
          </a:solidFill>
          <a:ln w="9525">
            <a:solidFill>
              <a:srgbClr val="E3D6E3"/>
            </a:solidFill>
            <a:prstDash val="solid"/>
          </a:ln>
        </p:spPr>
        <p:txBody>
          <a:bodyPr/>
          <a:lstStyle/>
          <a:p>
            <a:endParaRPr lang="es-AR"/>
          </a:p>
        </p:txBody>
      </p:sp>
      <p:sp>
        <p:nvSpPr>
          <p:cNvPr id="7" name="Shape 4"/>
          <p:cNvSpPr/>
          <p:nvPr/>
        </p:nvSpPr>
        <p:spPr>
          <a:xfrm>
            <a:off x="685800" y="11430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8" name="Image 0" descr="preencoded.png"/>
          <p:cNvPicPr>
            <a:picLocks noChangeAspect="1"/>
          </p:cNvPicPr>
          <p:nvPr/>
        </p:nvPicPr>
        <p:blipFill>
          <a:blip r:embed="rId3"/>
          <a:stretch>
            <a:fillRect/>
          </a:stretch>
        </p:blipFill>
        <p:spPr>
          <a:xfrm>
            <a:off x="822960" y="1280160"/>
            <a:ext cx="274320" cy="274320"/>
          </a:xfrm>
          <a:prstGeom prst="rect">
            <a:avLst/>
          </a:prstGeom>
        </p:spPr>
      </p:pic>
      <p:sp>
        <p:nvSpPr>
          <p:cNvPr id="9" name="Text 5"/>
          <p:cNvSpPr txBox="1"/>
          <p:nvPr/>
        </p:nvSpPr>
        <p:spPr>
          <a:xfrm>
            <a:off x="1371600" y="1143000"/>
            <a:ext cx="2926080" cy="548640"/>
          </a:xfrm>
          <a:prstGeom prst="rect">
            <a:avLst/>
          </a:prstGeom>
          <a:noFill/>
          <a:ln/>
        </p:spPr>
        <p:txBody>
          <a:bodyPr wrap="square" lIns="0" tIns="0" rIns="0" bIns="0" rtlCol="0" anchor="ctr"/>
          <a:lstStyle/>
          <a:p>
            <a:pPr marL="0" indent="0">
              <a:buNone/>
            </a:pPr>
            <a:r>
              <a:rPr lang="en-US" sz="2000" b="1" dirty="0">
                <a:solidFill>
                  <a:srgbClr val="1B1F3B"/>
                </a:solidFill>
                <a:latin typeface="Cambria" pitchFamily="34" charset="0"/>
                <a:ea typeface="Cambria" pitchFamily="34" charset="-122"/>
                <a:cs typeface="Cambria" pitchFamily="34" charset="-120"/>
              </a:rPr>
              <a:t>GraphQL conviene</a:t>
            </a:r>
            <a:endParaRPr lang="en-US" sz="2000" dirty="0"/>
          </a:p>
        </p:txBody>
      </p:sp>
      <p:sp>
        <p:nvSpPr>
          <p:cNvPr id="10" name="Text 6"/>
          <p:cNvSpPr txBox="1"/>
          <p:nvPr/>
        </p:nvSpPr>
        <p:spPr>
          <a:xfrm>
            <a:off x="731520" y="1828800"/>
            <a:ext cx="356616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Web y app móvil con pantallas distintas</a:t>
            </a:r>
            <a:endParaRPr lang="en-US" sz="1300" dirty="0"/>
          </a:p>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Datos muy relacionados entre sí</a:t>
            </a:r>
            <a:endParaRPr lang="en-US" sz="1300" dirty="0"/>
          </a:p>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Datos en vivo (suscripciones)</a:t>
            </a:r>
            <a:endParaRPr lang="en-US" sz="1300" dirty="0"/>
          </a:p>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Una API que crece sin versionar: se agregan campos sin romper a los clientes</a:t>
            </a:r>
            <a:endParaRPr lang="en-US" sz="1300" dirty="0"/>
          </a:p>
        </p:txBody>
      </p:sp>
      <p:sp>
        <p:nvSpPr>
          <p:cNvPr id="11" name="Text 7"/>
          <p:cNvSpPr txBox="1"/>
          <p:nvPr/>
        </p:nvSpPr>
        <p:spPr>
          <a:xfrm>
            <a:off x="731520" y="3246120"/>
            <a:ext cx="3566160" cy="457200"/>
          </a:xfrm>
          <a:prstGeom prst="rect">
            <a:avLst/>
          </a:prstGeom>
          <a:noFill/>
          <a:ln/>
        </p:spPr>
        <p:txBody>
          <a:bodyPr wrap="square" lIns="0" tIns="0" rIns="0" bIns="0" rtlCol="0" anchor="t"/>
          <a:lstStyle/>
          <a:p>
            <a:pPr marL="0" indent="0">
              <a:buNone/>
            </a:pPr>
            <a:r>
              <a:rPr lang="en-US" sz="1200" i="1" dirty="0">
                <a:solidFill>
                  <a:srgbClr val="E10098"/>
                </a:solidFill>
                <a:latin typeface="Calibri" pitchFamily="34" charset="0"/>
                <a:ea typeface="Calibri" pitchFamily="34" charset="-122"/>
                <a:cs typeface="Calibri" pitchFamily="34" charset="-120"/>
              </a:rPr>
              <a:t>Ejemplo: la web y la app de turnos piden campos distintos.</a:t>
            </a:r>
            <a:endParaRPr lang="en-US" sz="1200" dirty="0"/>
          </a:p>
        </p:txBody>
      </p:sp>
      <p:sp>
        <p:nvSpPr>
          <p:cNvPr id="12" name="Shape 8"/>
          <p:cNvSpPr/>
          <p:nvPr/>
        </p:nvSpPr>
        <p:spPr>
          <a:xfrm>
            <a:off x="4663440" y="1005840"/>
            <a:ext cx="4023360" cy="2788920"/>
          </a:xfrm>
          <a:prstGeom prst="roundRect">
            <a:avLst>
              <a:gd name="adj" fmla="val 3934"/>
            </a:avLst>
          </a:prstGeom>
          <a:solidFill>
            <a:srgbClr val="F6EEF6"/>
          </a:solidFill>
          <a:ln w="9525">
            <a:solidFill>
              <a:srgbClr val="E3D6E3"/>
            </a:solidFill>
            <a:prstDash val="solid"/>
          </a:ln>
        </p:spPr>
        <p:txBody>
          <a:bodyPr/>
          <a:lstStyle/>
          <a:p>
            <a:endParaRPr lang="es-AR"/>
          </a:p>
        </p:txBody>
      </p:sp>
      <p:sp>
        <p:nvSpPr>
          <p:cNvPr id="13" name="Shape 9"/>
          <p:cNvSpPr/>
          <p:nvPr/>
        </p:nvSpPr>
        <p:spPr>
          <a:xfrm>
            <a:off x="4892040" y="1143000"/>
            <a:ext cx="548640" cy="548640"/>
          </a:xfrm>
          <a:prstGeom prst="ellipse">
            <a:avLst/>
          </a:prstGeom>
          <a:solidFill>
            <a:srgbClr val="E10098"/>
          </a:solidFill>
          <a:ln w="12700">
            <a:solidFill>
              <a:srgbClr val="E10098"/>
            </a:solidFill>
            <a:prstDash val="solid"/>
          </a:ln>
        </p:spPr>
        <p:txBody>
          <a:bodyPr/>
          <a:lstStyle/>
          <a:p>
            <a:endParaRPr lang="es-AR"/>
          </a:p>
        </p:txBody>
      </p:sp>
      <p:pic>
        <p:nvPicPr>
          <p:cNvPr id="14" name="Image 1" descr="preencoded.png"/>
          <p:cNvPicPr>
            <a:picLocks noChangeAspect="1"/>
          </p:cNvPicPr>
          <p:nvPr/>
        </p:nvPicPr>
        <p:blipFill>
          <a:blip r:embed="rId3"/>
          <a:stretch>
            <a:fillRect/>
          </a:stretch>
        </p:blipFill>
        <p:spPr>
          <a:xfrm>
            <a:off x="5029200" y="1280160"/>
            <a:ext cx="274320" cy="274320"/>
          </a:xfrm>
          <a:prstGeom prst="rect">
            <a:avLst/>
          </a:prstGeom>
        </p:spPr>
      </p:pic>
      <p:sp>
        <p:nvSpPr>
          <p:cNvPr id="15" name="Text 10"/>
          <p:cNvSpPr txBox="1"/>
          <p:nvPr/>
        </p:nvSpPr>
        <p:spPr>
          <a:xfrm>
            <a:off x="5577840" y="1143000"/>
            <a:ext cx="2926080" cy="548640"/>
          </a:xfrm>
          <a:prstGeom prst="rect">
            <a:avLst/>
          </a:prstGeom>
          <a:noFill/>
          <a:ln/>
        </p:spPr>
        <p:txBody>
          <a:bodyPr wrap="square" lIns="0" tIns="0" rIns="0" bIns="0" rtlCol="0" anchor="ctr"/>
          <a:lstStyle/>
          <a:p>
            <a:pPr marL="0" indent="0">
              <a:buNone/>
            </a:pPr>
            <a:r>
              <a:rPr lang="en-US" sz="2000" b="1" dirty="0">
                <a:solidFill>
                  <a:srgbClr val="1B1F3B"/>
                </a:solidFill>
                <a:latin typeface="Cambria" pitchFamily="34" charset="0"/>
                <a:ea typeface="Cambria" pitchFamily="34" charset="-122"/>
                <a:cs typeface="Cambria" pitchFamily="34" charset="-120"/>
              </a:rPr>
              <a:t>REST conviene</a:t>
            </a:r>
            <a:endParaRPr lang="en-US" sz="2000" dirty="0"/>
          </a:p>
        </p:txBody>
      </p:sp>
      <p:sp>
        <p:nvSpPr>
          <p:cNvPr id="16" name="Text 11"/>
          <p:cNvSpPr txBox="1"/>
          <p:nvPr/>
        </p:nvSpPr>
        <p:spPr>
          <a:xfrm>
            <a:off x="4937760" y="1828800"/>
            <a:ext cx="356616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Archivos (por ejemplo, un PDF)</a:t>
            </a:r>
            <a:endParaRPr lang="en-US" sz="1300" dirty="0"/>
          </a:p>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Un solo cliente con datos fijos</a:t>
            </a:r>
            <a:endParaRPr lang="en-US" sz="1300" dirty="0"/>
          </a:p>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Lectura masiva con caché</a:t>
            </a:r>
            <a:endParaRPr lang="en-US" sz="1300" dirty="0"/>
          </a:p>
          <a:p>
            <a:pPr marL="342900" indent="-342900">
              <a:spcAft>
                <a:spcPts val="500"/>
              </a:spcAft>
              <a:buSzPct val="100000"/>
              <a:buChar char="•"/>
            </a:pPr>
            <a:r>
              <a:rPr lang="en-US" sz="1300" dirty="0">
                <a:solidFill>
                  <a:srgbClr val="5B6178"/>
                </a:solidFill>
                <a:latin typeface="Calibri" pitchFamily="34" charset="0"/>
                <a:ea typeface="Calibri" pitchFamily="34" charset="-122"/>
                <a:cs typeface="Calibri" pitchFamily="34" charset="-120"/>
              </a:rPr>
              <a:t>Webhooks, integraciones simples y equipos que recién empiezan</a:t>
            </a:r>
            <a:endParaRPr lang="en-US" sz="1300" dirty="0"/>
          </a:p>
        </p:txBody>
      </p:sp>
      <p:sp>
        <p:nvSpPr>
          <p:cNvPr id="17" name="Text 12"/>
          <p:cNvSpPr txBox="1"/>
          <p:nvPr/>
        </p:nvSpPr>
        <p:spPr>
          <a:xfrm>
            <a:off x="4937760" y="3246120"/>
            <a:ext cx="3566160" cy="457200"/>
          </a:xfrm>
          <a:prstGeom prst="rect">
            <a:avLst/>
          </a:prstGeom>
          <a:noFill/>
          <a:ln/>
        </p:spPr>
        <p:txBody>
          <a:bodyPr wrap="square" lIns="0" tIns="0" rIns="0" bIns="0" rtlCol="0" anchor="t"/>
          <a:lstStyle/>
          <a:p>
            <a:pPr marL="0" indent="0">
              <a:buNone/>
            </a:pPr>
            <a:r>
              <a:rPr lang="en-US" sz="1200" i="1" dirty="0">
                <a:solidFill>
                  <a:srgbClr val="E10098"/>
                </a:solidFill>
                <a:latin typeface="Calibri" pitchFamily="34" charset="0"/>
                <a:ea typeface="Calibri" pitchFamily="34" charset="-122"/>
                <a:cs typeface="Calibri" pitchFamily="34" charset="-120"/>
              </a:rPr>
              <a:t>Ejemplo: descargar el comprobante en PDF de un turno.</a:t>
            </a:r>
            <a:endParaRPr lang="en-US" sz="1200" dirty="0"/>
          </a:p>
        </p:txBody>
      </p:sp>
      <p:sp>
        <p:nvSpPr>
          <p:cNvPr id="18" name="Shape 13"/>
          <p:cNvSpPr/>
          <p:nvPr/>
        </p:nvSpPr>
        <p:spPr>
          <a:xfrm>
            <a:off x="457200" y="3931920"/>
            <a:ext cx="8229600" cy="594360"/>
          </a:xfrm>
          <a:prstGeom prst="roundRect">
            <a:avLst>
              <a:gd name="adj" fmla="val 15385"/>
            </a:avLst>
          </a:prstGeom>
          <a:solidFill>
            <a:srgbClr val="E10098"/>
          </a:solidFill>
          <a:ln w="12700">
            <a:solidFill>
              <a:srgbClr val="E10098"/>
            </a:solidFill>
            <a:prstDash val="solid"/>
          </a:ln>
        </p:spPr>
        <p:txBody>
          <a:bodyPr/>
          <a:lstStyle/>
          <a:p>
            <a:endParaRPr lang="es-AR"/>
          </a:p>
        </p:txBody>
      </p:sp>
      <p:sp>
        <p:nvSpPr>
          <p:cNvPr id="19" name="Text 14"/>
          <p:cNvSpPr txBox="1"/>
          <p:nvPr/>
        </p:nvSpPr>
        <p:spPr>
          <a:xfrm>
            <a:off x="457200" y="3931920"/>
            <a:ext cx="822960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GraphQL no reemplaza a REST: resuelve un problema puntual.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1" name="Text 101"/>
          <p:cNvSpPr txBox="1"/>
          <p:nvPr/>
        </p:nvSpPr>
        <p:spPr>
          <a:xfrm>
            <a:off x="457200" y="274320"/>
            <a:ext cx="8229600" cy="685800"/>
          </a:xfrm>
          <a:prstGeom prst="rect">
            <a:avLst/>
          </a:prstGeom>
          <a:noFill/>
          <a:ln/>
        </p:spPr>
        <p:txBody>
          <a:bodyPr wrap="square" lIns="0" tIns="0" rIns="0" bIns="0" rtlCol="0" anchor="ctr"/>
          <a:lstStyle/>
          <a:p>
            <a:pPr marL="0" indent="0">
              <a:buNone/>
            </a:pPr>
            <a:r>
              <a:rPr lang="es-AR" sz="3200" b="1" dirty="0">
                <a:solidFill>
                  <a:srgbClr val="1B1F3B"/>
                </a:solidFill>
                <a:latin typeface="Cambria" pitchFamily="34" charset="0"/>
                <a:ea typeface="Cambria" pitchFamily="34" charset="-122"/>
                <a:cs typeface="Cambria" pitchFamily="34" charset="-120"/>
              </a:rPr>
              <a:t>Un poco de historia</a:t>
            </a:r>
          </a:p>
        </p:txBody>
      </p:sp>
      <p:sp>
        <p:nvSpPr>
          <p:cNvPr id="102" name="Text 102"/>
          <p:cNvSpPr txBox="1"/>
          <p:nvPr/>
        </p:nvSpPr>
        <p:spPr>
          <a:xfrm>
            <a:off x="457200" y="1051560"/>
            <a:ext cx="8229600" cy="548640"/>
          </a:xfrm>
          <a:prstGeom prst="rect">
            <a:avLst/>
          </a:prstGeom>
          <a:noFill/>
          <a:ln/>
        </p:spPr>
        <p:txBody>
          <a:bodyPr wrap="square" lIns="0" tIns="0" rIns="0" bIns="0" rtlCol="0" anchor="ctr"/>
          <a:lstStyle/>
          <a:p>
            <a:pPr marL="0" indent="0">
              <a:buNone/>
            </a:pPr>
            <a:r>
              <a:rPr lang="es-AR" sz="2000" dirty="0">
                <a:solidFill>
                  <a:srgbClr val="1B1F3B"/>
                </a:solidFill>
                <a:latin typeface="Calibri" pitchFamily="34" charset="0"/>
                <a:ea typeface="Calibri" pitchFamily="34" charset="-122"/>
                <a:cs typeface="Calibri" pitchFamily="34" charset="-120"/>
              </a:rPr>
              <a:t>Creado por Facebook en 2012 y liberado como código abierto en 2015.</a:t>
            </a:r>
          </a:p>
        </p:txBody>
      </p:sp>
      <p:sp>
        <p:nvSpPr>
          <p:cNvPr id="103" name="Card 103"/>
          <p:cNvSpPr/>
          <p:nvPr/>
        </p:nvSpPr>
        <p:spPr>
          <a:xfrm>
            <a:off x="457200" y="1783080"/>
            <a:ext cx="1920240" cy="1828800"/>
          </a:xfrm>
          <a:prstGeom prst="roundRect">
            <a:avLst>
              <a:gd name="adj" fmla="val 5000"/>
            </a:avLst>
          </a:prstGeom>
          <a:solidFill>
            <a:srgbClr val="F6EEF6"/>
          </a:solidFill>
          <a:ln w="9525">
            <a:solidFill>
              <a:srgbClr val="E3D6E3"/>
            </a:solidFill>
          </a:ln>
        </p:spPr>
        <p:txBody>
          <a:bodyPr/>
          <a:lstStyle/>
          <a:p>
            <a:endParaRPr lang="es-AR"/>
          </a:p>
        </p:txBody>
      </p:sp>
      <p:sp>
        <p:nvSpPr>
          <p:cNvPr id="104" name="Text 104"/>
          <p:cNvSpPr txBox="1"/>
          <p:nvPr/>
        </p:nvSpPr>
        <p:spPr>
          <a:xfrm>
            <a:off x="640080" y="1920240"/>
            <a:ext cx="1554480" cy="411480"/>
          </a:xfrm>
          <a:prstGeom prst="rect">
            <a:avLst/>
          </a:prstGeom>
          <a:noFill/>
          <a:ln/>
        </p:spPr>
        <p:txBody>
          <a:bodyPr wrap="square" lIns="0" tIns="0" rIns="0" bIns="0" rtlCol="0" anchor="ctr"/>
          <a:lstStyle/>
          <a:p>
            <a:pPr marL="0" indent="0">
              <a:buNone/>
            </a:pPr>
            <a:r>
              <a:rPr lang="es-AR" sz="2800" b="1" dirty="0">
                <a:solidFill>
                  <a:srgbClr val="E10098"/>
                </a:solidFill>
                <a:latin typeface="Cambria" pitchFamily="34" charset="0"/>
                <a:ea typeface="Cambria" pitchFamily="34" charset="-122"/>
                <a:cs typeface="Cambria" pitchFamily="34" charset="-120"/>
              </a:rPr>
              <a:t>2012</a:t>
            </a:r>
          </a:p>
        </p:txBody>
      </p:sp>
      <p:sp>
        <p:nvSpPr>
          <p:cNvPr id="105" name="Text 105"/>
          <p:cNvSpPr txBox="1"/>
          <p:nvPr/>
        </p:nvSpPr>
        <p:spPr>
          <a:xfrm>
            <a:off x="640080" y="2377440"/>
            <a:ext cx="1554480" cy="274320"/>
          </a:xfrm>
          <a:prstGeom prst="rect">
            <a:avLst/>
          </a:prstGeom>
          <a:noFill/>
          <a:ln/>
        </p:spPr>
        <p:txBody>
          <a:bodyPr wrap="square" lIns="0" tIns="0" rIns="0" bIns="0" rtlCol="0" anchor="ctr"/>
          <a:lstStyle/>
          <a:p>
            <a:pPr marL="0" indent="0">
              <a:buNone/>
            </a:pPr>
            <a:r>
              <a:rPr lang="es-AR" sz="1400" b="1" dirty="0">
                <a:solidFill>
                  <a:srgbClr val="1B1F3B"/>
                </a:solidFill>
                <a:latin typeface="Cambria" pitchFamily="34" charset="0"/>
                <a:ea typeface="Cambria" pitchFamily="34" charset="-122"/>
                <a:cs typeface="Cambria" pitchFamily="34" charset="-120"/>
              </a:rPr>
              <a:t>Nace en Facebook</a:t>
            </a:r>
          </a:p>
        </p:txBody>
      </p:sp>
      <p:sp>
        <p:nvSpPr>
          <p:cNvPr id="106" name="Text 106"/>
          <p:cNvSpPr txBox="1"/>
          <p:nvPr/>
        </p:nvSpPr>
        <p:spPr>
          <a:xfrm>
            <a:off x="640080" y="2743200"/>
            <a:ext cx="1554480" cy="777240"/>
          </a:xfrm>
          <a:prstGeom prst="rect">
            <a:avLst/>
          </a:prstGeom>
          <a:noFill/>
          <a:ln/>
        </p:spPr>
        <p:txBody>
          <a:bodyPr wrap="square" lIns="0" tIns="0" rIns="0" bIns="0" rtlCol="0" anchor="t"/>
          <a:lstStyle/>
          <a:p>
            <a:pPr marL="0" indent="0">
              <a:buNone/>
            </a:pPr>
            <a:r>
              <a:rPr lang="es-AR" sz="1200" dirty="0">
                <a:solidFill>
                  <a:srgbClr val="5B6178"/>
                </a:solidFill>
                <a:latin typeface="Calibri" pitchFamily="34" charset="0"/>
                <a:ea typeface="Calibri" pitchFamily="34" charset="-122"/>
                <a:cs typeface="Calibri" pitchFamily="34" charset="-120"/>
              </a:rPr>
              <a:t>La app de iOS pasa a ser nativa y el News Feed necesita datos anidados en pocas llamadas.</a:t>
            </a:r>
          </a:p>
        </p:txBody>
      </p:sp>
      <p:sp>
        <p:nvSpPr>
          <p:cNvPr id="107" name="Card 107"/>
          <p:cNvSpPr/>
          <p:nvPr/>
        </p:nvSpPr>
        <p:spPr>
          <a:xfrm>
            <a:off x="2560320" y="1783080"/>
            <a:ext cx="1920240" cy="1828800"/>
          </a:xfrm>
          <a:prstGeom prst="roundRect">
            <a:avLst>
              <a:gd name="adj" fmla="val 5000"/>
            </a:avLst>
          </a:prstGeom>
          <a:solidFill>
            <a:srgbClr val="F6EEF6"/>
          </a:solidFill>
          <a:ln w="9525">
            <a:solidFill>
              <a:srgbClr val="E3D6E3"/>
            </a:solidFill>
          </a:ln>
        </p:spPr>
        <p:txBody>
          <a:bodyPr/>
          <a:lstStyle/>
          <a:p>
            <a:endParaRPr lang="es-AR"/>
          </a:p>
        </p:txBody>
      </p:sp>
      <p:sp>
        <p:nvSpPr>
          <p:cNvPr id="108" name="Text 108"/>
          <p:cNvSpPr txBox="1"/>
          <p:nvPr/>
        </p:nvSpPr>
        <p:spPr>
          <a:xfrm>
            <a:off x="2743200" y="1920240"/>
            <a:ext cx="1554480" cy="411480"/>
          </a:xfrm>
          <a:prstGeom prst="rect">
            <a:avLst/>
          </a:prstGeom>
          <a:noFill/>
          <a:ln/>
        </p:spPr>
        <p:txBody>
          <a:bodyPr wrap="square" lIns="0" tIns="0" rIns="0" bIns="0" rtlCol="0" anchor="ctr"/>
          <a:lstStyle/>
          <a:p>
            <a:pPr marL="0" indent="0">
              <a:buNone/>
            </a:pPr>
            <a:r>
              <a:rPr lang="es-AR" sz="2800" b="1" dirty="0">
                <a:solidFill>
                  <a:srgbClr val="E10098"/>
                </a:solidFill>
                <a:latin typeface="Cambria" pitchFamily="34" charset="0"/>
                <a:ea typeface="Cambria" pitchFamily="34" charset="-122"/>
                <a:cs typeface="Cambria" pitchFamily="34" charset="-120"/>
              </a:rPr>
              <a:t>2015</a:t>
            </a:r>
          </a:p>
        </p:txBody>
      </p:sp>
      <p:sp>
        <p:nvSpPr>
          <p:cNvPr id="109" name="Text 109"/>
          <p:cNvSpPr txBox="1"/>
          <p:nvPr/>
        </p:nvSpPr>
        <p:spPr>
          <a:xfrm>
            <a:off x="2743200" y="2377440"/>
            <a:ext cx="1554480" cy="274320"/>
          </a:xfrm>
          <a:prstGeom prst="rect">
            <a:avLst/>
          </a:prstGeom>
          <a:noFill/>
          <a:ln/>
        </p:spPr>
        <p:txBody>
          <a:bodyPr wrap="square" lIns="0" tIns="0" rIns="0" bIns="0" rtlCol="0" anchor="ctr"/>
          <a:lstStyle/>
          <a:p>
            <a:pPr marL="0" indent="0">
              <a:buNone/>
            </a:pPr>
            <a:r>
              <a:rPr lang="es-AR" sz="1400" b="1" dirty="0">
                <a:solidFill>
                  <a:srgbClr val="1B1F3B"/>
                </a:solidFill>
                <a:latin typeface="Cambria" pitchFamily="34" charset="0"/>
                <a:ea typeface="Cambria" pitchFamily="34" charset="-122"/>
                <a:cs typeface="Cambria" pitchFamily="34" charset="-120"/>
              </a:rPr>
              <a:t>Código abierto</a:t>
            </a:r>
          </a:p>
        </p:txBody>
      </p:sp>
      <p:sp>
        <p:nvSpPr>
          <p:cNvPr id="110" name="Text 110"/>
          <p:cNvSpPr txBox="1"/>
          <p:nvPr/>
        </p:nvSpPr>
        <p:spPr>
          <a:xfrm>
            <a:off x="2743200" y="2743200"/>
            <a:ext cx="1554480" cy="777240"/>
          </a:xfrm>
          <a:prstGeom prst="rect">
            <a:avLst/>
          </a:prstGeom>
          <a:noFill/>
          <a:ln/>
        </p:spPr>
        <p:txBody>
          <a:bodyPr wrap="square" lIns="0" tIns="0" rIns="0" bIns="0" rtlCol="0" anchor="t"/>
          <a:lstStyle/>
          <a:p>
            <a:pPr marL="0" indent="0">
              <a:buNone/>
            </a:pPr>
            <a:r>
              <a:rPr lang="es-AR" sz="1200" dirty="0">
                <a:solidFill>
                  <a:srgbClr val="5B6178"/>
                </a:solidFill>
                <a:latin typeface="Calibri" pitchFamily="34" charset="0"/>
                <a:ea typeface="Calibri" pitchFamily="34" charset="-122"/>
                <a:cs typeface="Calibri" pitchFamily="34" charset="-120"/>
              </a:rPr>
              <a:t>Facebook publica la especificación y la implementación de referencia, graphql-js.</a:t>
            </a:r>
          </a:p>
        </p:txBody>
      </p:sp>
      <p:sp>
        <p:nvSpPr>
          <p:cNvPr id="111" name="Card 111"/>
          <p:cNvSpPr/>
          <p:nvPr/>
        </p:nvSpPr>
        <p:spPr>
          <a:xfrm>
            <a:off x="4663440" y="1783080"/>
            <a:ext cx="1920240" cy="1828800"/>
          </a:xfrm>
          <a:prstGeom prst="roundRect">
            <a:avLst>
              <a:gd name="adj" fmla="val 5000"/>
            </a:avLst>
          </a:prstGeom>
          <a:solidFill>
            <a:srgbClr val="F6EEF6"/>
          </a:solidFill>
          <a:ln w="9525">
            <a:solidFill>
              <a:srgbClr val="E3D6E3"/>
            </a:solidFill>
          </a:ln>
        </p:spPr>
        <p:txBody>
          <a:bodyPr/>
          <a:lstStyle/>
          <a:p>
            <a:endParaRPr lang="es-AR"/>
          </a:p>
        </p:txBody>
      </p:sp>
      <p:sp>
        <p:nvSpPr>
          <p:cNvPr id="112" name="Text 112"/>
          <p:cNvSpPr txBox="1"/>
          <p:nvPr/>
        </p:nvSpPr>
        <p:spPr>
          <a:xfrm>
            <a:off x="4846320" y="1920240"/>
            <a:ext cx="1554480" cy="411480"/>
          </a:xfrm>
          <a:prstGeom prst="rect">
            <a:avLst/>
          </a:prstGeom>
          <a:noFill/>
          <a:ln/>
        </p:spPr>
        <p:txBody>
          <a:bodyPr wrap="square" lIns="0" tIns="0" rIns="0" bIns="0" rtlCol="0" anchor="ctr"/>
          <a:lstStyle/>
          <a:p>
            <a:pPr marL="0" indent="0">
              <a:buNone/>
            </a:pPr>
            <a:r>
              <a:rPr lang="es-AR" sz="2800" b="1" dirty="0">
                <a:solidFill>
                  <a:srgbClr val="E10098"/>
                </a:solidFill>
                <a:latin typeface="Cambria" pitchFamily="34" charset="0"/>
                <a:ea typeface="Cambria" pitchFamily="34" charset="-122"/>
                <a:cs typeface="Cambria" pitchFamily="34" charset="-120"/>
              </a:rPr>
              <a:t>2016</a:t>
            </a:r>
          </a:p>
        </p:txBody>
      </p:sp>
      <p:sp>
        <p:nvSpPr>
          <p:cNvPr id="113" name="Text 113"/>
          <p:cNvSpPr txBox="1"/>
          <p:nvPr/>
        </p:nvSpPr>
        <p:spPr>
          <a:xfrm>
            <a:off x="4846320" y="2377440"/>
            <a:ext cx="1554480" cy="274320"/>
          </a:xfrm>
          <a:prstGeom prst="rect">
            <a:avLst/>
          </a:prstGeom>
          <a:noFill/>
          <a:ln/>
        </p:spPr>
        <p:txBody>
          <a:bodyPr wrap="square" lIns="0" tIns="0" rIns="0" bIns="0" rtlCol="0" anchor="ctr"/>
          <a:lstStyle/>
          <a:p>
            <a:pPr marL="0" indent="0">
              <a:buNone/>
            </a:pPr>
            <a:r>
              <a:rPr lang="es-AR" sz="1400" b="1" dirty="0">
                <a:solidFill>
                  <a:srgbClr val="1B1F3B"/>
                </a:solidFill>
                <a:latin typeface="Cambria" pitchFamily="34" charset="0"/>
                <a:ea typeface="Cambria" pitchFamily="34" charset="-122"/>
                <a:cs typeface="Cambria" pitchFamily="34" charset="-120"/>
              </a:rPr>
              <a:t>Llega a la industria</a:t>
            </a:r>
          </a:p>
        </p:txBody>
      </p:sp>
      <p:sp>
        <p:nvSpPr>
          <p:cNvPr id="114" name="Text 114"/>
          <p:cNvSpPr txBox="1"/>
          <p:nvPr/>
        </p:nvSpPr>
        <p:spPr>
          <a:xfrm>
            <a:off x="4846320" y="2743200"/>
            <a:ext cx="1554480" cy="777240"/>
          </a:xfrm>
          <a:prstGeom prst="rect">
            <a:avLst/>
          </a:prstGeom>
          <a:noFill/>
          <a:ln/>
        </p:spPr>
        <p:txBody>
          <a:bodyPr wrap="square" lIns="0" tIns="0" rIns="0" bIns="0" rtlCol="0" anchor="t"/>
          <a:lstStyle/>
          <a:p>
            <a:pPr marL="0" indent="0">
              <a:buNone/>
            </a:pPr>
            <a:r>
              <a:rPr lang="es-AR" sz="1200" dirty="0">
                <a:solidFill>
                  <a:srgbClr val="5B6178"/>
                </a:solidFill>
                <a:latin typeface="Calibri" pitchFamily="34" charset="0"/>
                <a:ea typeface="Calibri" pitchFamily="34" charset="-122"/>
                <a:cs typeface="Calibri" pitchFamily="34" charset="-120"/>
              </a:rPr>
              <a:t>GitHub lanza su API v4 en GraphQL; le siguen Shopify, Netflix y otros.</a:t>
            </a:r>
          </a:p>
        </p:txBody>
      </p:sp>
      <p:sp>
        <p:nvSpPr>
          <p:cNvPr id="115" name="Card 115"/>
          <p:cNvSpPr/>
          <p:nvPr/>
        </p:nvSpPr>
        <p:spPr>
          <a:xfrm>
            <a:off x="6766560" y="1783080"/>
            <a:ext cx="1920240" cy="1828800"/>
          </a:xfrm>
          <a:prstGeom prst="roundRect">
            <a:avLst>
              <a:gd name="adj" fmla="val 5000"/>
            </a:avLst>
          </a:prstGeom>
          <a:solidFill>
            <a:srgbClr val="F6EEF6"/>
          </a:solidFill>
          <a:ln w="9525">
            <a:solidFill>
              <a:srgbClr val="E3D6E3"/>
            </a:solidFill>
          </a:ln>
        </p:spPr>
        <p:txBody>
          <a:bodyPr/>
          <a:lstStyle/>
          <a:p>
            <a:endParaRPr lang="es-AR"/>
          </a:p>
        </p:txBody>
      </p:sp>
      <p:sp>
        <p:nvSpPr>
          <p:cNvPr id="116" name="Text 116"/>
          <p:cNvSpPr txBox="1"/>
          <p:nvPr/>
        </p:nvSpPr>
        <p:spPr>
          <a:xfrm>
            <a:off x="6949440" y="1920240"/>
            <a:ext cx="1554480" cy="411480"/>
          </a:xfrm>
          <a:prstGeom prst="rect">
            <a:avLst/>
          </a:prstGeom>
          <a:noFill/>
          <a:ln/>
        </p:spPr>
        <p:txBody>
          <a:bodyPr wrap="square" lIns="0" tIns="0" rIns="0" bIns="0" rtlCol="0" anchor="ctr"/>
          <a:lstStyle/>
          <a:p>
            <a:pPr marL="0" indent="0">
              <a:buNone/>
            </a:pPr>
            <a:r>
              <a:rPr lang="es-AR" sz="2800" b="1" dirty="0">
                <a:solidFill>
                  <a:srgbClr val="E10098"/>
                </a:solidFill>
                <a:latin typeface="Cambria" pitchFamily="34" charset="0"/>
                <a:ea typeface="Cambria" pitchFamily="34" charset="-122"/>
                <a:cs typeface="Cambria" pitchFamily="34" charset="-120"/>
              </a:rPr>
              <a:t>2018</a:t>
            </a:r>
          </a:p>
        </p:txBody>
      </p:sp>
      <p:sp>
        <p:nvSpPr>
          <p:cNvPr id="117" name="Text 117"/>
          <p:cNvSpPr txBox="1"/>
          <p:nvPr/>
        </p:nvSpPr>
        <p:spPr>
          <a:xfrm>
            <a:off x="6949440" y="2377440"/>
            <a:ext cx="1554480" cy="274320"/>
          </a:xfrm>
          <a:prstGeom prst="rect">
            <a:avLst/>
          </a:prstGeom>
          <a:noFill/>
          <a:ln/>
        </p:spPr>
        <p:txBody>
          <a:bodyPr wrap="square" lIns="0" tIns="0" rIns="0" bIns="0" rtlCol="0" anchor="ctr"/>
          <a:lstStyle/>
          <a:p>
            <a:pPr marL="0" indent="0">
              <a:buNone/>
            </a:pPr>
            <a:r>
              <a:rPr lang="es-AR" sz="1400" b="1" dirty="0">
                <a:solidFill>
                  <a:srgbClr val="1B1F3B"/>
                </a:solidFill>
                <a:latin typeface="Cambria" pitchFamily="34" charset="0"/>
                <a:ea typeface="Cambria" pitchFamily="34" charset="-122"/>
                <a:cs typeface="Cambria" pitchFamily="34" charset="-120"/>
              </a:rPr>
              <a:t>Fundación propia</a:t>
            </a:r>
          </a:p>
        </p:txBody>
      </p:sp>
      <p:sp>
        <p:nvSpPr>
          <p:cNvPr id="118" name="Text 118"/>
          <p:cNvSpPr txBox="1"/>
          <p:nvPr/>
        </p:nvSpPr>
        <p:spPr>
          <a:xfrm>
            <a:off x="6949440" y="2743200"/>
            <a:ext cx="1554480" cy="777240"/>
          </a:xfrm>
          <a:prstGeom prst="rect">
            <a:avLst/>
          </a:prstGeom>
          <a:noFill/>
          <a:ln/>
        </p:spPr>
        <p:txBody>
          <a:bodyPr wrap="square" lIns="0" tIns="0" rIns="0" bIns="0" rtlCol="0" anchor="t"/>
          <a:lstStyle/>
          <a:p>
            <a:pPr marL="0" indent="0">
              <a:buNone/>
            </a:pPr>
            <a:r>
              <a:rPr lang="es-AR" sz="1200" dirty="0">
                <a:solidFill>
                  <a:srgbClr val="5B6178"/>
                </a:solidFill>
                <a:latin typeface="Calibri" pitchFamily="34" charset="0"/>
                <a:ea typeface="Calibri" pitchFamily="34" charset="-122"/>
                <a:cs typeface="Calibri" pitchFamily="34" charset="-120"/>
              </a:rPr>
              <a:t>Pasa a la GraphQL Foundation, dentro de la Linux Foundation.</a:t>
            </a:r>
          </a:p>
        </p:txBody>
      </p:sp>
      <p:sp>
        <p:nvSpPr>
          <p:cNvPr id="119" name="Banner 119"/>
          <p:cNvSpPr/>
          <p:nvPr/>
        </p:nvSpPr>
        <p:spPr>
          <a:xfrm>
            <a:off x="457200" y="3749040"/>
            <a:ext cx="8229600" cy="822960"/>
          </a:xfrm>
          <a:prstGeom prst="roundRect">
            <a:avLst>
              <a:gd name="adj" fmla="val 12500"/>
            </a:avLst>
          </a:prstGeom>
          <a:solidFill>
            <a:srgbClr val="E10098"/>
          </a:solidFill>
          <a:ln>
            <a:noFill/>
          </a:ln>
        </p:spPr>
        <p:txBody>
          <a:bodyPr/>
          <a:lstStyle/>
          <a:p>
            <a:endParaRPr lang="es-AR"/>
          </a:p>
        </p:txBody>
      </p:sp>
      <p:sp>
        <p:nvSpPr>
          <p:cNvPr id="120" name="Text 120"/>
          <p:cNvSpPr txBox="1"/>
          <p:nvPr/>
        </p:nvSpPr>
        <p:spPr>
          <a:xfrm>
            <a:off x="640080" y="3817620"/>
            <a:ext cx="7863840" cy="685800"/>
          </a:xfrm>
          <a:prstGeom prst="rect">
            <a:avLst/>
          </a:prstGeom>
          <a:noFill/>
          <a:ln/>
        </p:spPr>
        <p:txBody>
          <a:bodyPr wrap="square" lIns="0" tIns="0" rIns="0" bIns="0" rtlCol="0" anchor="ctr"/>
          <a:lstStyle/>
          <a:p>
            <a:pPr marL="0" indent="0">
              <a:buNone/>
            </a:pPr>
            <a:r>
              <a:rPr lang="es-AR" sz="1400" b="1" dirty="0">
                <a:solidFill>
                  <a:srgbClr val="FFFFFF"/>
                </a:solidFill>
                <a:latin typeface="Cambria" pitchFamily="34" charset="0"/>
                <a:ea typeface="Cambria" pitchFamily="34" charset="-122"/>
                <a:cs typeface="Cambria" pitchFamily="34" charset="-120"/>
              </a:rPr>
              <a:t>¿Por qué se creó? </a:t>
            </a:r>
            <a:r>
              <a:rPr lang="es-AR" sz="1400" dirty="0">
                <a:solidFill>
                  <a:srgbClr val="FFFFFF"/>
                </a:solidFill>
                <a:latin typeface="Calibri" pitchFamily="34" charset="0"/>
                <a:ea typeface="Calibri" pitchFamily="34" charset="-122"/>
                <a:cs typeface="Calibri" pitchFamily="34" charset="-120"/>
              </a:rPr>
              <a:t>Con REST, cada pantalla del celular hacía varias llamadas y recibía datos de más, sobre redes móviles lentas. GraphQL deja que la pantalla pida justo lo que necesita, en una sola llamada.</a:t>
            </a:r>
          </a:p>
        </p:txBody>
      </p:sp>
      <p:sp>
        <p:nvSpPr>
          <p:cNvPr id="121" name="Text 121"/>
          <p:cNvSpPr txBox="1"/>
          <p:nvPr/>
        </p:nvSpPr>
        <p:spPr>
          <a:xfrm>
            <a:off x="457200" y="4754880"/>
            <a:ext cx="5486400" cy="228600"/>
          </a:xfrm>
          <a:prstGeom prst="rect">
            <a:avLst/>
          </a:prstGeom>
          <a:noFill/>
          <a:ln/>
        </p:spPr>
        <p:txBody>
          <a:bodyPr wrap="square" lIns="0" tIns="0" rIns="0" bIns="0" rtlCol="0" anchor="ctr"/>
          <a:lstStyle/>
          <a:p>
            <a:pPr marL="0" indent="0">
              <a:buNone/>
            </a:pPr>
            <a:r>
              <a:rPr lang="es-AR" sz="900" dirty="0">
                <a:solidFill>
                  <a:srgbClr val="5B6178"/>
                </a:solidFill>
                <a:latin typeface="Calibri" pitchFamily="34" charset="0"/>
                <a:ea typeface="Calibri" pitchFamily="34" charset="-122"/>
                <a:cs typeface="Calibri" pitchFamily="34" charset="-120"/>
              </a:rPr>
              <a:t>GraphQL y REST · Gamba y Milanesi · 2026</a:t>
            </a:r>
          </a:p>
        </p:txBody>
      </p:sp>
      <p:sp>
        <p:nvSpPr>
          <p:cNvPr id="122" name="Text 122"/>
          <p:cNvSpPr txBox="1"/>
          <p:nvPr/>
        </p:nvSpPr>
        <p:spPr>
          <a:xfrm>
            <a:off x="8229600" y="4754880"/>
            <a:ext cx="457200" cy="228600"/>
          </a:xfrm>
          <a:prstGeom prst="rect">
            <a:avLst/>
          </a:prstGeom>
          <a:noFill/>
          <a:ln/>
        </p:spPr>
        <p:txBody>
          <a:bodyPr wrap="square" lIns="0" tIns="0" rIns="0" bIns="0" rtlCol="0" anchor="ctr"/>
          <a:lstStyle/>
          <a:p>
            <a:pPr marL="0" indent="0" algn="r">
              <a:buNone/>
            </a:pPr>
            <a:r>
              <a:rPr lang="es-AR" sz="900" dirty="0">
                <a:solidFill>
                  <a:srgbClr val="5B6178"/>
                </a:solidFill>
                <a:latin typeface="Calibri" pitchFamily="34" charset="0"/>
                <a:ea typeface="Calibri" pitchFamily="34" charset="-122"/>
                <a:cs typeface="Calibri" pitchFamily="34" charset="-120"/>
              </a:rPr>
              <a:t>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Cierre">
    <p:bg>
      <p:bgPr>
        <a:solidFill>
          <a:srgbClr val="F6EEF6"/>
        </a:solidFill>
        <a:effectLst/>
      </p:bgPr>
    </p:bg>
    <p:spTree>
      <p:nvGrpSpPr>
        <p:cNvPr id="1" name=""/>
        <p:cNvGrpSpPr/>
        <p:nvPr/>
      </p:nvGrpSpPr>
      <p:grpSpPr>
        <a:xfrm>
          <a:off x="0" y="0"/>
          <a:ext cx="0" cy="0"/>
          <a:chOff x="0" y="0"/>
          <a:chExt cx="0" cy="0"/>
        </a:xfrm>
      </p:grpSpPr>
      <p:sp>
        <p:nvSpPr>
          <p:cNvPr id="123" name="Titulo 123"/>
          <p:cNvSpPr txBox="1"/>
          <p:nvPr/>
        </p:nvSpPr>
        <p:spPr>
          <a:xfrm>
            <a:off x="548640" y="1325880"/>
            <a:ext cx="4937760" cy="1371600"/>
          </a:xfrm>
          <a:prstGeom prst="rect">
            <a:avLst/>
          </a:prstGeom>
          <a:noFill/>
          <a:ln/>
        </p:spPr>
        <p:txBody>
          <a:bodyPr wrap="square" lIns="0" tIns="0" rIns="0" bIns="0" rtlCol="0" anchor="b"/>
          <a:lstStyle/>
          <a:p>
            <a:pPr marL="0" indent="0">
              <a:buNone/>
            </a:pPr>
            <a:r>
              <a:rPr lang="es-AR" sz="2800" dirty="0">
                <a:solidFill>
                  <a:srgbClr val="1B1F3B"/>
                </a:solidFill>
                <a:latin typeface="Cambria" pitchFamily="34" charset="0"/>
                <a:ea typeface="Cambria" pitchFamily="34" charset="-122"/>
                <a:cs typeface="Cambria" pitchFamily="34" charset="-120"/>
              </a:rPr>
              <a:t>Esto es</a:t>
            </a:r>
          </a:p>
          <a:p>
            <a:pPr marL="0" indent="0">
              <a:buNone/>
            </a:pPr>
            <a:r>
              <a:rPr lang="es-AR" sz="5400" b="1" dirty="0">
                <a:solidFill>
                  <a:srgbClr val="E10098"/>
                </a:solidFill>
                <a:latin typeface="Cambria" pitchFamily="34" charset="0"/>
                <a:ea typeface="Cambria" pitchFamily="34" charset="-122"/>
                <a:cs typeface="Cambria" pitchFamily="34" charset="-120"/>
              </a:rPr>
              <a:t>GraphQL</a:t>
            </a:r>
          </a:p>
        </p:txBody>
      </p:sp>
      <p:sp>
        <p:nvSpPr>
          <p:cNvPr id="124" name="Preguntas 124"/>
          <p:cNvSpPr txBox="1"/>
          <p:nvPr/>
        </p:nvSpPr>
        <p:spPr>
          <a:xfrm>
            <a:off x="548640" y="2926080"/>
            <a:ext cx="4937760" cy="731520"/>
          </a:xfrm>
          <a:prstGeom prst="rect">
            <a:avLst/>
          </a:prstGeom>
          <a:noFill/>
          <a:ln/>
        </p:spPr>
        <p:txBody>
          <a:bodyPr wrap="square" lIns="0" tIns="0" rIns="0" bIns="0" rtlCol="0" anchor="ctr"/>
          <a:lstStyle/>
          <a:p>
            <a:pPr marL="0" indent="0">
              <a:buNone/>
            </a:pPr>
            <a:r>
              <a:rPr lang="es-AR" sz="4000" b="1" dirty="0">
                <a:solidFill>
                  <a:srgbClr val="1B1F3B"/>
                </a:solidFill>
                <a:latin typeface="Cambria" pitchFamily="34" charset="0"/>
                <a:ea typeface="Cambria" pitchFamily="34" charset="-122"/>
                <a:cs typeface="Cambria" pitchFamily="34" charset="-120"/>
              </a:rPr>
              <a:t>¿Preguntas?</a:t>
            </a:r>
          </a:p>
        </p:txBody>
      </p:sp>
      <p:sp>
        <p:nvSpPr>
          <p:cNvPr id="13" name="Text 10"/>
          <p:cNvSpPr txBox="1"/>
          <p:nvPr/>
        </p:nvSpPr>
        <p:spPr>
          <a:xfrm>
            <a:off x="548640" y="4663440"/>
            <a:ext cx="4937760" cy="274320"/>
          </a:xfrm>
          <a:prstGeom prst="rect">
            <a:avLst/>
          </a:prstGeom>
          <a:noFill/>
          <a:ln/>
        </p:spPr>
        <p:txBody>
          <a:bodyPr wrap="square" lIns="0" tIns="0" rIns="0" bIns="0" rtlCol="0" anchor="ctr"/>
          <a:lstStyle/>
          <a:p>
            <a:pPr marL="0" indent="0">
              <a:buNone/>
            </a:pPr>
            <a:r>
              <a:rPr lang="en-US" sz="1200" dirty="0">
                <a:solidFill>
                  <a:srgbClr val="5B6178"/>
                </a:solidFill>
                <a:latin typeface="Calibri" pitchFamily="34" charset="0"/>
                <a:ea typeface="Calibri" pitchFamily="34" charset="-122"/>
                <a:cs typeface="Calibri" pitchFamily="34" charset="-120"/>
              </a:rPr>
              <a:t>Gamba y Milanesi · 2026</a:t>
            </a:r>
            <a:endParaRPr lang="en-US" sz="1200" dirty="0"/>
          </a:p>
        </p:txBody>
      </p:sp>
      <p:sp>
        <p:nvSpPr>
          <p:cNvPr id="14" name="Shape 11"/>
          <p:cNvSpPr/>
          <p:nvPr/>
        </p:nvSpPr>
        <p:spPr>
          <a:xfrm>
            <a:off x="6583680" y="1188720"/>
            <a:ext cx="1463040" cy="548640"/>
          </a:xfrm>
          <a:prstGeom prst="line">
            <a:avLst/>
          </a:prstGeom>
          <a:noFill/>
          <a:ln w="19050">
            <a:solidFill>
              <a:srgbClr val="E10098"/>
            </a:solidFill>
            <a:prstDash val="solid"/>
          </a:ln>
        </p:spPr>
        <p:txBody>
          <a:bodyPr/>
          <a:lstStyle/>
          <a:p>
            <a:endParaRPr lang="es-AR"/>
          </a:p>
        </p:txBody>
      </p:sp>
      <p:sp>
        <p:nvSpPr>
          <p:cNvPr id="15" name="Shape 12"/>
          <p:cNvSpPr/>
          <p:nvPr/>
        </p:nvSpPr>
        <p:spPr>
          <a:xfrm>
            <a:off x="6583680" y="1188720"/>
            <a:ext cx="365760" cy="1463040"/>
          </a:xfrm>
          <a:prstGeom prst="line">
            <a:avLst/>
          </a:prstGeom>
          <a:noFill/>
          <a:ln w="19050">
            <a:solidFill>
              <a:srgbClr val="E10098"/>
            </a:solidFill>
            <a:prstDash val="solid"/>
          </a:ln>
        </p:spPr>
        <p:txBody>
          <a:bodyPr/>
          <a:lstStyle/>
          <a:p>
            <a:endParaRPr lang="es-AR"/>
          </a:p>
        </p:txBody>
      </p:sp>
      <p:sp>
        <p:nvSpPr>
          <p:cNvPr id="16" name="Shape 13"/>
          <p:cNvSpPr/>
          <p:nvPr/>
        </p:nvSpPr>
        <p:spPr>
          <a:xfrm flipV="1">
            <a:off x="6949440" y="1737360"/>
            <a:ext cx="1097280" cy="914400"/>
          </a:xfrm>
          <a:prstGeom prst="line">
            <a:avLst/>
          </a:prstGeom>
          <a:noFill/>
          <a:ln w="19050">
            <a:solidFill>
              <a:srgbClr val="E10098"/>
            </a:solidFill>
            <a:prstDash val="solid"/>
          </a:ln>
        </p:spPr>
        <p:txBody>
          <a:bodyPr/>
          <a:lstStyle/>
          <a:p>
            <a:endParaRPr lang="es-AR"/>
          </a:p>
        </p:txBody>
      </p:sp>
      <p:sp>
        <p:nvSpPr>
          <p:cNvPr id="17" name="Shape 14"/>
          <p:cNvSpPr/>
          <p:nvPr/>
        </p:nvSpPr>
        <p:spPr>
          <a:xfrm>
            <a:off x="8046720" y="1737360"/>
            <a:ext cx="182880" cy="1554480"/>
          </a:xfrm>
          <a:prstGeom prst="line">
            <a:avLst/>
          </a:prstGeom>
          <a:noFill/>
          <a:ln w="19050">
            <a:solidFill>
              <a:srgbClr val="E10098"/>
            </a:solidFill>
            <a:prstDash val="solid"/>
          </a:ln>
        </p:spPr>
        <p:txBody>
          <a:bodyPr/>
          <a:lstStyle/>
          <a:p>
            <a:endParaRPr lang="es-AR"/>
          </a:p>
        </p:txBody>
      </p:sp>
      <p:sp>
        <p:nvSpPr>
          <p:cNvPr id="18" name="Shape 15"/>
          <p:cNvSpPr/>
          <p:nvPr/>
        </p:nvSpPr>
        <p:spPr>
          <a:xfrm flipV="1">
            <a:off x="6309360" y="2651760"/>
            <a:ext cx="640080" cy="1280160"/>
          </a:xfrm>
          <a:prstGeom prst="line">
            <a:avLst/>
          </a:prstGeom>
          <a:noFill/>
          <a:ln w="19050">
            <a:solidFill>
              <a:srgbClr val="E10098"/>
            </a:solidFill>
            <a:prstDash val="solid"/>
          </a:ln>
        </p:spPr>
        <p:txBody>
          <a:bodyPr/>
          <a:lstStyle/>
          <a:p>
            <a:endParaRPr lang="es-AR"/>
          </a:p>
        </p:txBody>
      </p:sp>
      <p:sp>
        <p:nvSpPr>
          <p:cNvPr id="19" name="Shape 16"/>
          <p:cNvSpPr/>
          <p:nvPr/>
        </p:nvSpPr>
        <p:spPr>
          <a:xfrm>
            <a:off x="6949440" y="2651760"/>
            <a:ext cx="548640" cy="1463040"/>
          </a:xfrm>
          <a:prstGeom prst="line">
            <a:avLst/>
          </a:prstGeom>
          <a:noFill/>
          <a:ln w="19050">
            <a:solidFill>
              <a:srgbClr val="E10098"/>
            </a:solidFill>
            <a:prstDash val="solid"/>
          </a:ln>
        </p:spPr>
        <p:txBody>
          <a:bodyPr/>
          <a:lstStyle/>
          <a:p>
            <a:endParaRPr lang="es-AR"/>
          </a:p>
        </p:txBody>
      </p:sp>
      <p:sp>
        <p:nvSpPr>
          <p:cNvPr id="20" name="Shape 17"/>
          <p:cNvSpPr/>
          <p:nvPr/>
        </p:nvSpPr>
        <p:spPr>
          <a:xfrm flipV="1">
            <a:off x="7498080" y="3291840"/>
            <a:ext cx="731520" cy="822960"/>
          </a:xfrm>
          <a:prstGeom prst="line">
            <a:avLst/>
          </a:prstGeom>
          <a:noFill/>
          <a:ln w="19050">
            <a:solidFill>
              <a:srgbClr val="E10098"/>
            </a:solidFill>
            <a:prstDash val="solid"/>
          </a:ln>
        </p:spPr>
        <p:txBody>
          <a:bodyPr/>
          <a:lstStyle/>
          <a:p>
            <a:endParaRPr lang="es-AR"/>
          </a:p>
        </p:txBody>
      </p:sp>
      <p:sp>
        <p:nvSpPr>
          <p:cNvPr id="21" name="Shape 18"/>
          <p:cNvSpPr/>
          <p:nvPr/>
        </p:nvSpPr>
        <p:spPr>
          <a:xfrm>
            <a:off x="6382512" y="987552"/>
            <a:ext cx="402336" cy="402336"/>
          </a:xfrm>
          <a:prstGeom prst="ellipse">
            <a:avLst/>
          </a:prstGeom>
          <a:solidFill>
            <a:srgbClr val="E10098"/>
          </a:solidFill>
          <a:ln w="25400">
            <a:solidFill>
              <a:srgbClr val="E10098"/>
            </a:solidFill>
            <a:prstDash val="solid"/>
          </a:ln>
        </p:spPr>
        <p:txBody>
          <a:bodyPr/>
          <a:lstStyle/>
          <a:p>
            <a:endParaRPr lang="es-AR"/>
          </a:p>
        </p:txBody>
      </p:sp>
      <p:sp>
        <p:nvSpPr>
          <p:cNvPr id="22" name="Shape 19"/>
          <p:cNvSpPr/>
          <p:nvPr/>
        </p:nvSpPr>
        <p:spPr>
          <a:xfrm>
            <a:off x="7845552" y="1536192"/>
            <a:ext cx="402336" cy="402336"/>
          </a:xfrm>
          <a:prstGeom prst="ellipse">
            <a:avLst/>
          </a:prstGeom>
          <a:solidFill>
            <a:srgbClr val="FFFFFF"/>
          </a:solidFill>
          <a:ln w="25400">
            <a:solidFill>
              <a:srgbClr val="E10098"/>
            </a:solidFill>
            <a:prstDash val="solid"/>
          </a:ln>
        </p:spPr>
        <p:txBody>
          <a:bodyPr/>
          <a:lstStyle/>
          <a:p>
            <a:endParaRPr lang="es-AR"/>
          </a:p>
        </p:txBody>
      </p:sp>
      <p:sp>
        <p:nvSpPr>
          <p:cNvPr id="23" name="Shape 20"/>
          <p:cNvSpPr/>
          <p:nvPr/>
        </p:nvSpPr>
        <p:spPr>
          <a:xfrm>
            <a:off x="6748272" y="2450592"/>
            <a:ext cx="402336" cy="402336"/>
          </a:xfrm>
          <a:prstGeom prst="ellipse">
            <a:avLst/>
          </a:prstGeom>
          <a:solidFill>
            <a:srgbClr val="E10098"/>
          </a:solidFill>
          <a:ln w="25400">
            <a:solidFill>
              <a:srgbClr val="E10098"/>
            </a:solidFill>
            <a:prstDash val="solid"/>
          </a:ln>
        </p:spPr>
        <p:txBody>
          <a:bodyPr/>
          <a:lstStyle/>
          <a:p>
            <a:endParaRPr lang="es-AR"/>
          </a:p>
        </p:txBody>
      </p:sp>
      <p:sp>
        <p:nvSpPr>
          <p:cNvPr id="24" name="Shape 21"/>
          <p:cNvSpPr/>
          <p:nvPr/>
        </p:nvSpPr>
        <p:spPr>
          <a:xfrm>
            <a:off x="8028432" y="3090672"/>
            <a:ext cx="402336" cy="402336"/>
          </a:xfrm>
          <a:prstGeom prst="ellipse">
            <a:avLst/>
          </a:prstGeom>
          <a:solidFill>
            <a:srgbClr val="FFFFFF"/>
          </a:solidFill>
          <a:ln w="25400">
            <a:solidFill>
              <a:srgbClr val="E10098"/>
            </a:solidFill>
            <a:prstDash val="solid"/>
          </a:ln>
        </p:spPr>
        <p:txBody>
          <a:bodyPr/>
          <a:lstStyle/>
          <a:p>
            <a:endParaRPr lang="es-AR"/>
          </a:p>
        </p:txBody>
      </p:sp>
      <p:sp>
        <p:nvSpPr>
          <p:cNvPr id="25" name="Shape 22"/>
          <p:cNvSpPr/>
          <p:nvPr/>
        </p:nvSpPr>
        <p:spPr>
          <a:xfrm>
            <a:off x="6108192" y="3730752"/>
            <a:ext cx="402336" cy="402336"/>
          </a:xfrm>
          <a:prstGeom prst="ellipse">
            <a:avLst/>
          </a:prstGeom>
          <a:solidFill>
            <a:srgbClr val="E10098"/>
          </a:solidFill>
          <a:ln w="25400">
            <a:solidFill>
              <a:srgbClr val="E10098"/>
            </a:solidFill>
            <a:prstDash val="solid"/>
          </a:ln>
        </p:spPr>
        <p:txBody>
          <a:bodyPr/>
          <a:lstStyle/>
          <a:p>
            <a:endParaRPr lang="es-AR"/>
          </a:p>
        </p:txBody>
      </p:sp>
      <p:sp>
        <p:nvSpPr>
          <p:cNvPr id="26" name="Shape 23"/>
          <p:cNvSpPr/>
          <p:nvPr/>
        </p:nvSpPr>
        <p:spPr>
          <a:xfrm>
            <a:off x="7296912" y="3913632"/>
            <a:ext cx="402336" cy="402336"/>
          </a:xfrm>
          <a:prstGeom prst="ellipse">
            <a:avLst/>
          </a:prstGeom>
          <a:solidFill>
            <a:srgbClr val="FFFFFF"/>
          </a:solidFill>
          <a:ln w="25400">
            <a:solidFill>
              <a:srgbClr val="E10098"/>
            </a:solidFill>
            <a:prstDash val="solid"/>
          </a:ln>
        </p:spPr>
        <p:txBody>
          <a:bodyPr/>
          <a:lstStyle/>
          <a:p>
            <a:endParaRPr lang="es-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1199</Words>
  <Application>Microsoft Office PowerPoint</Application>
  <PresentationFormat>Presentación en pantalla (16:9)</PresentationFormat>
  <Paragraphs>140</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GraphQL y su comparación con REST</dc:title>
  <dc:subject>PptxGenJS Presentation</dc:subject>
  <dc:creator>Gamba y Milanesi</dc:creator>
  <cp:lastModifiedBy>Renzo Milanesi</cp:lastModifiedBy>
  <cp:revision>1</cp:revision>
  <dcterms:created xsi:type="dcterms:W3CDTF">2026-09-25T21:24:31Z</dcterms:created>
  <dcterms:modified xsi:type="dcterms:W3CDTF">2026-09-25T22:32:11Z</dcterms:modified>
</cp:coreProperties>
</file>